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6" r:id="rId20"/>
    <p:sldId id="27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9DEA6C-5B93-484E-B461-E3CE11D08784}" v="58" dt="2026-08-20T16:17:38.7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0" autoAdjust="0"/>
    <p:restoredTop sz="94660"/>
  </p:normalViewPr>
  <p:slideViewPr>
    <p:cSldViewPr snapToGrid="0">
      <p:cViewPr varScale="1">
        <p:scale>
          <a:sx n="93" d="100"/>
          <a:sy n="93" d="100"/>
        </p:scale>
        <p:origin x="92"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dhar Swaminathan" userId="f467e1afcea2a17a" providerId="LiveId" clId="{BDBAC1A8-9B48-4264-BE0F-E0293DDEE6B3}"/>
    <pc:docChg chg="undo custSel addSld delSld modSld">
      <pc:chgData name="Kedhar Swaminathan" userId="f467e1afcea2a17a" providerId="LiveId" clId="{BDBAC1A8-9B48-4264-BE0F-E0293DDEE6B3}" dt="2026-08-20T16:21:41.783" v="457" actId="47"/>
      <pc:docMkLst>
        <pc:docMk/>
      </pc:docMkLst>
      <pc:sldChg chg="modSp new mod">
        <pc:chgData name="Kedhar Swaminathan" userId="f467e1afcea2a17a" providerId="LiveId" clId="{BDBAC1A8-9B48-4264-BE0F-E0293DDEE6B3}" dt="2026-08-20T15:59:10.182" v="134" actId="20577"/>
        <pc:sldMkLst>
          <pc:docMk/>
          <pc:sldMk cId="3072111697" sldId="267"/>
        </pc:sldMkLst>
        <pc:spChg chg="mod">
          <ac:chgData name="Kedhar Swaminathan" userId="f467e1afcea2a17a" providerId="LiveId" clId="{BDBAC1A8-9B48-4264-BE0F-E0293DDEE6B3}" dt="2026-08-20T15:53:26.372" v="1"/>
          <ac:spMkLst>
            <pc:docMk/>
            <pc:sldMk cId="3072111697" sldId="267"/>
            <ac:spMk id="2" creationId="{698B29FD-ED52-7F4F-FA92-FAAC9359D6EF}"/>
          </ac:spMkLst>
        </pc:spChg>
        <pc:spChg chg="mod">
          <ac:chgData name="Kedhar Swaminathan" userId="f467e1afcea2a17a" providerId="LiveId" clId="{BDBAC1A8-9B48-4264-BE0F-E0293DDEE6B3}" dt="2026-08-20T15:59:10.182" v="134" actId="20577"/>
          <ac:spMkLst>
            <pc:docMk/>
            <pc:sldMk cId="3072111697" sldId="267"/>
            <ac:spMk id="3" creationId="{D82E861A-0955-08A2-5023-F2B224028CC2}"/>
          </ac:spMkLst>
        </pc:spChg>
      </pc:sldChg>
      <pc:sldChg chg="modSp new mod">
        <pc:chgData name="Kedhar Swaminathan" userId="f467e1afcea2a17a" providerId="LiveId" clId="{BDBAC1A8-9B48-4264-BE0F-E0293DDEE6B3}" dt="2026-08-20T16:01:14.535" v="221" actId="15"/>
        <pc:sldMkLst>
          <pc:docMk/>
          <pc:sldMk cId="164281172" sldId="268"/>
        </pc:sldMkLst>
        <pc:spChg chg="mod">
          <ac:chgData name="Kedhar Swaminathan" userId="f467e1afcea2a17a" providerId="LiveId" clId="{BDBAC1A8-9B48-4264-BE0F-E0293DDEE6B3}" dt="2026-08-20T15:59:31.757" v="136"/>
          <ac:spMkLst>
            <pc:docMk/>
            <pc:sldMk cId="164281172" sldId="268"/>
            <ac:spMk id="2" creationId="{6E0F217D-63FB-EDA4-C124-4505226F842F}"/>
          </ac:spMkLst>
        </pc:spChg>
        <pc:spChg chg="mod">
          <ac:chgData name="Kedhar Swaminathan" userId="f467e1afcea2a17a" providerId="LiveId" clId="{BDBAC1A8-9B48-4264-BE0F-E0293DDEE6B3}" dt="2026-08-20T16:01:14.535" v="221" actId="15"/>
          <ac:spMkLst>
            <pc:docMk/>
            <pc:sldMk cId="164281172" sldId="268"/>
            <ac:spMk id="3" creationId="{E59438B2-0813-1F93-02B5-31ED36DDBA73}"/>
          </ac:spMkLst>
        </pc:spChg>
      </pc:sldChg>
      <pc:sldChg chg="addSp delSp modSp new mod">
        <pc:chgData name="Kedhar Swaminathan" userId="f467e1afcea2a17a" providerId="LiveId" clId="{BDBAC1A8-9B48-4264-BE0F-E0293DDEE6B3}" dt="2026-08-20T16:04:27.636" v="233" actId="1076"/>
        <pc:sldMkLst>
          <pc:docMk/>
          <pc:sldMk cId="2110661739" sldId="269"/>
        </pc:sldMkLst>
        <pc:spChg chg="mod">
          <ac:chgData name="Kedhar Swaminathan" userId="f467e1afcea2a17a" providerId="LiveId" clId="{BDBAC1A8-9B48-4264-BE0F-E0293DDEE6B3}" dt="2026-08-20T16:01:35.330" v="223"/>
          <ac:spMkLst>
            <pc:docMk/>
            <pc:sldMk cId="2110661739" sldId="269"/>
            <ac:spMk id="2" creationId="{55865B26-E2CD-CD73-9121-9516DC3C4847}"/>
          </ac:spMkLst>
        </pc:spChg>
        <pc:spChg chg="del">
          <ac:chgData name="Kedhar Swaminathan" userId="f467e1afcea2a17a" providerId="LiveId" clId="{BDBAC1A8-9B48-4264-BE0F-E0293DDEE6B3}" dt="2026-08-20T16:03:39.523" v="224"/>
          <ac:spMkLst>
            <pc:docMk/>
            <pc:sldMk cId="2110661739" sldId="269"/>
            <ac:spMk id="3" creationId="{AFF6D061-E112-2B38-E734-DFFA52D0C274}"/>
          </ac:spMkLst>
        </pc:spChg>
        <pc:spChg chg="add mod">
          <ac:chgData name="Kedhar Swaminathan" userId="f467e1afcea2a17a" providerId="LiveId" clId="{BDBAC1A8-9B48-4264-BE0F-E0293DDEE6B3}" dt="2026-08-20T16:04:27.636" v="233" actId="1076"/>
          <ac:spMkLst>
            <pc:docMk/>
            <pc:sldMk cId="2110661739" sldId="269"/>
            <ac:spMk id="5" creationId="{4921D932-47E6-D897-3349-03606B72B53F}"/>
          </ac:spMkLst>
        </pc:spChg>
        <pc:picChg chg="add mod">
          <ac:chgData name="Kedhar Swaminathan" userId="f467e1afcea2a17a" providerId="LiveId" clId="{BDBAC1A8-9B48-4264-BE0F-E0293DDEE6B3}" dt="2026-08-20T16:03:42.784" v="225" actId="14100"/>
          <ac:picMkLst>
            <pc:docMk/>
            <pc:sldMk cId="2110661739" sldId="269"/>
            <ac:picMk id="4" creationId="{02602713-6469-A317-663B-FB9C58B4000A}"/>
          </ac:picMkLst>
        </pc:picChg>
      </pc:sldChg>
      <pc:sldChg chg="modSp new mod">
        <pc:chgData name="Kedhar Swaminathan" userId="f467e1afcea2a17a" providerId="LiveId" clId="{BDBAC1A8-9B48-4264-BE0F-E0293DDEE6B3}" dt="2026-08-20T16:09:55.607" v="342" actId="27636"/>
        <pc:sldMkLst>
          <pc:docMk/>
          <pc:sldMk cId="2513166761" sldId="270"/>
        </pc:sldMkLst>
        <pc:spChg chg="mod">
          <ac:chgData name="Kedhar Swaminathan" userId="f467e1afcea2a17a" providerId="LiveId" clId="{BDBAC1A8-9B48-4264-BE0F-E0293DDEE6B3}" dt="2026-08-20T16:04:42.415" v="235"/>
          <ac:spMkLst>
            <pc:docMk/>
            <pc:sldMk cId="2513166761" sldId="270"/>
            <ac:spMk id="2" creationId="{DEB7A23F-47B3-4148-445E-01CE5FB82D53}"/>
          </ac:spMkLst>
        </pc:spChg>
        <pc:spChg chg="mod">
          <ac:chgData name="Kedhar Swaminathan" userId="f467e1afcea2a17a" providerId="LiveId" clId="{BDBAC1A8-9B48-4264-BE0F-E0293DDEE6B3}" dt="2026-08-20T16:09:55.607" v="342" actId="27636"/>
          <ac:spMkLst>
            <pc:docMk/>
            <pc:sldMk cId="2513166761" sldId="270"/>
            <ac:spMk id="3" creationId="{C657102F-420E-CDDD-EF59-80C97FC27A96}"/>
          </ac:spMkLst>
        </pc:spChg>
      </pc:sldChg>
      <pc:sldChg chg="addSp delSp modSp new mod">
        <pc:chgData name="Kedhar Swaminathan" userId="f467e1afcea2a17a" providerId="LiveId" clId="{BDBAC1A8-9B48-4264-BE0F-E0293DDEE6B3}" dt="2026-08-20T16:10:57.010" v="348"/>
        <pc:sldMkLst>
          <pc:docMk/>
          <pc:sldMk cId="1392077947" sldId="271"/>
        </pc:sldMkLst>
        <pc:spChg chg="mod">
          <ac:chgData name="Kedhar Swaminathan" userId="f467e1afcea2a17a" providerId="LiveId" clId="{BDBAC1A8-9B48-4264-BE0F-E0293DDEE6B3}" dt="2026-08-20T16:10:33.398" v="346"/>
          <ac:spMkLst>
            <pc:docMk/>
            <pc:sldMk cId="1392077947" sldId="271"/>
            <ac:spMk id="2" creationId="{95D557F7-9526-55DC-D04E-2BA5C8AA6F1A}"/>
          </ac:spMkLst>
        </pc:spChg>
        <pc:spChg chg="del">
          <ac:chgData name="Kedhar Swaminathan" userId="f467e1afcea2a17a" providerId="LiveId" clId="{BDBAC1A8-9B48-4264-BE0F-E0293DDEE6B3}" dt="2026-08-20T16:10:20.788" v="344"/>
          <ac:spMkLst>
            <pc:docMk/>
            <pc:sldMk cId="1392077947" sldId="271"/>
            <ac:spMk id="3" creationId="{4353018F-DB9E-F909-DDE5-0A9074CA7D06}"/>
          </ac:spMkLst>
        </pc:spChg>
        <pc:spChg chg="add mod">
          <ac:chgData name="Kedhar Swaminathan" userId="f467e1afcea2a17a" providerId="LiveId" clId="{BDBAC1A8-9B48-4264-BE0F-E0293DDEE6B3}" dt="2026-08-20T16:10:57.010" v="348"/>
          <ac:spMkLst>
            <pc:docMk/>
            <pc:sldMk cId="1392077947" sldId="271"/>
            <ac:spMk id="5" creationId="{E282A3A2-3B53-A8BC-AF65-7A6B970A762B}"/>
          </ac:spMkLst>
        </pc:spChg>
        <pc:picChg chg="add mod">
          <ac:chgData name="Kedhar Swaminathan" userId="f467e1afcea2a17a" providerId="LiveId" clId="{BDBAC1A8-9B48-4264-BE0F-E0293DDEE6B3}" dt="2026-08-20T16:10:22.755" v="345" actId="1076"/>
          <ac:picMkLst>
            <pc:docMk/>
            <pc:sldMk cId="1392077947" sldId="271"/>
            <ac:picMk id="4" creationId="{8AF3FCA0-085D-5DCA-F0B4-C56AD78B95A2}"/>
          </ac:picMkLst>
        </pc:picChg>
      </pc:sldChg>
      <pc:sldChg chg="modSp new">
        <pc:chgData name="Kedhar Swaminathan" userId="f467e1afcea2a17a" providerId="LiveId" clId="{BDBAC1A8-9B48-4264-BE0F-E0293DDEE6B3}" dt="2026-08-20T16:12:05.104" v="351"/>
        <pc:sldMkLst>
          <pc:docMk/>
          <pc:sldMk cId="1657781730" sldId="272"/>
        </pc:sldMkLst>
        <pc:spChg chg="mod">
          <ac:chgData name="Kedhar Swaminathan" userId="f467e1afcea2a17a" providerId="LiveId" clId="{BDBAC1A8-9B48-4264-BE0F-E0293DDEE6B3}" dt="2026-08-20T16:12:05.104" v="351"/>
          <ac:spMkLst>
            <pc:docMk/>
            <pc:sldMk cId="1657781730" sldId="272"/>
            <ac:spMk id="2" creationId="{797DE956-EAE8-3EC2-6C67-5269A3737250}"/>
          </ac:spMkLst>
        </pc:spChg>
        <pc:spChg chg="mod">
          <ac:chgData name="Kedhar Swaminathan" userId="f467e1afcea2a17a" providerId="LiveId" clId="{BDBAC1A8-9B48-4264-BE0F-E0293DDEE6B3}" dt="2026-08-20T16:11:57.276" v="350"/>
          <ac:spMkLst>
            <pc:docMk/>
            <pc:sldMk cId="1657781730" sldId="272"/>
            <ac:spMk id="3" creationId="{CB821BF2-7CCF-441F-E2EC-9A825E7B5892}"/>
          </ac:spMkLst>
        </pc:spChg>
      </pc:sldChg>
      <pc:sldChg chg="modSp new mod">
        <pc:chgData name="Kedhar Swaminathan" userId="f467e1afcea2a17a" providerId="LiveId" clId="{BDBAC1A8-9B48-4264-BE0F-E0293DDEE6B3}" dt="2026-08-20T16:13:28.432" v="402"/>
        <pc:sldMkLst>
          <pc:docMk/>
          <pc:sldMk cId="1985868372" sldId="273"/>
        </pc:sldMkLst>
        <pc:spChg chg="mod">
          <ac:chgData name="Kedhar Swaminathan" userId="f467e1afcea2a17a" providerId="LiveId" clId="{BDBAC1A8-9B48-4264-BE0F-E0293DDEE6B3}" dt="2026-08-20T16:12:25.460" v="375" actId="20577"/>
          <ac:spMkLst>
            <pc:docMk/>
            <pc:sldMk cId="1985868372" sldId="273"/>
            <ac:spMk id="2" creationId="{ECA93C00-BDCF-6771-752E-ABD3165CFCC2}"/>
          </ac:spMkLst>
        </pc:spChg>
        <pc:spChg chg="mod">
          <ac:chgData name="Kedhar Swaminathan" userId="f467e1afcea2a17a" providerId="LiveId" clId="{BDBAC1A8-9B48-4264-BE0F-E0293DDEE6B3}" dt="2026-08-20T16:13:28.432" v="402"/>
          <ac:spMkLst>
            <pc:docMk/>
            <pc:sldMk cId="1985868372" sldId="273"/>
            <ac:spMk id="3" creationId="{EE00527E-385F-BA40-90B4-6558C18E5C71}"/>
          </ac:spMkLst>
        </pc:spChg>
      </pc:sldChg>
      <pc:sldChg chg="modSp new del mod">
        <pc:chgData name="Kedhar Swaminathan" userId="f467e1afcea2a17a" providerId="LiveId" clId="{BDBAC1A8-9B48-4264-BE0F-E0293DDEE6B3}" dt="2026-08-20T16:21:36.551" v="456" actId="47"/>
        <pc:sldMkLst>
          <pc:docMk/>
          <pc:sldMk cId="4064247465" sldId="274"/>
        </pc:sldMkLst>
        <pc:spChg chg="mod">
          <ac:chgData name="Kedhar Swaminathan" userId="f467e1afcea2a17a" providerId="LiveId" clId="{BDBAC1A8-9B48-4264-BE0F-E0293DDEE6B3}" dt="2026-08-20T16:14:38.193" v="404"/>
          <ac:spMkLst>
            <pc:docMk/>
            <pc:sldMk cId="4064247465" sldId="274"/>
            <ac:spMk id="2" creationId="{8E63FDA1-8CC4-205B-D3D6-FB056A5B0B81}"/>
          </ac:spMkLst>
        </pc:spChg>
        <pc:spChg chg="mod">
          <ac:chgData name="Kedhar Swaminathan" userId="f467e1afcea2a17a" providerId="LiveId" clId="{BDBAC1A8-9B48-4264-BE0F-E0293DDEE6B3}" dt="2026-08-20T16:17:14.913" v="429" actId="20577"/>
          <ac:spMkLst>
            <pc:docMk/>
            <pc:sldMk cId="4064247465" sldId="274"/>
            <ac:spMk id="3" creationId="{93D9BA53-25B4-E1AB-73B3-11DC53013368}"/>
          </ac:spMkLst>
        </pc:spChg>
      </pc:sldChg>
      <pc:sldChg chg="modSp new del mod">
        <pc:chgData name="Kedhar Swaminathan" userId="f467e1afcea2a17a" providerId="LiveId" clId="{BDBAC1A8-9B48-4264-BE0F-E0293DDEE6B3}" dt="2026-08-20T16:21:41.783" v="457" actId="47"/>
        <pc:sldMkLst>
          <pc:docMk/>
          <pc:sldMk cId="704586407" sldId="275"/>
        </pc:sldMkLst>
        <pc:spChg chg="mod">
          <ac:chgData name="Kedhar Swaminathan" userId="f467e1afcea2a17a" providerId="LiveId" clId="{BDBAC1A8-9B48-4264-BE0F-E0293DDEE6B3}" dt="2026-08-20T16:15:10.184" v="408"/>
          <ac:spMkLst>
            <pc:docMk/>
            <pc:sldMk cId="704586407" sldId="275"/>
            <ac:spMk id="2" creationId="{96CE3BA4-ECE9-F9C9-0A7B-A17C0BD720F4}"/>
          </ac:spMkLst>
        </pc:spChg>
        <pc:spChg chg="mod">
          <ac:chgData name="Kedhar Swaminathan" userId="f467e1afcea2a17a" providerId="LiveId" clId="{BDBAC1A8-9B48-4264-BE0F-E0293DDEE6B3}" dt="2026-08-20T16:15:58.960" v="421" actId="15"/>
          <ac:spMkLst>
            <pc:docMk/>
            <pc:sldMk cId="704586407" sldId="275"/>
            <ac:spMk id="3" creationId="{1FB023AA-BB28-2540-4664-CCDDAE151A98}"/>
          </ac:spMkLst>
        </pc:spChg>
      </pc:sldChg>
      <pc:sldChg chg="modSp new mod">
        <pc:chgData name="Kedhar Swaminathan" userId="f467e1afcea2a17a" providerId="LiveId" clId="{BDBAC1A8-9B48-4264-BE0F-E0293DDEE6B3}" dt="2026-08-20T16:17:41.295" v="436" actId="20577"/>
        <pc:sldMkLst>
          <pc:docMk/>
          <pc:sldMk cId="4182081549" sldId="276"/>
        </pc:sldMkLst>
        <pc:spChg chg="mod">
          <ac:chgData name="Kedhar Swaminathan" userId="f467e1afcea2a17a" providerId="LiveId" clId="{BDBAC1A8-9B48-4264-BE0F-E0293DDEE6B3}" dt="2026-08-20T16:16:12.440" v="423"/>
          <ac:spMkLst>
            <pc:docMk/>
            <pc:sldMk cId="4182081549" sldId="276"/>
            <ac:spMk id="2" creationId="{27C20449-A340-E6DC-2843-584DF03E05AA}"/>
          </ac:spMkLst>
        </pc:spChg>
        <pc:spChg chg="mod">
          <ac:chgData name="Kedhar Swaminathan" userId="f467e1afcea2a17a" providerId="LiveId" clId="{BDBAC1A8-9B48-4264-BE0F-E0293DDEE6B3}" dt="2026-08-20T16:17:41.295" v="436" actId="20577"/>
          <ac:spMkLst>
            <pc:docMk/>
            <pc:sldMk cId="4182081549" sldId="276"/>
            <ac:spMk id="3" creationId="{497C4091-589E-96B0-FE18-13338089FEE1}"/>
          </ac:spMkLst>
        </pc:spChg>
      </pc:sldChg>
      <pc:sldChg chg="modSp new mod">
        <pc:chgData name="Kedhar Swaminathan" userId="f467e1afcea2a17a" providerId="LiveId" clId="{BDBAC1A8-9B48-4264-BE0F-E0293DDEE6B3}" dt="2026-08-20T16:17:54.639" v="455" actId="20577"/>
        <pc:sldMkLst>
          <pc:docMk/>
          <pc:sldMk cId="2424636826" sldId="277"/>
        </pc:sldMkLst>
        <pc:spChg chg="mod">
          <ac:chgData name="Kedhar Swaminathan" userId="f467e1afcea2a17a" providerId="LiveId" clId="{BDBAC1A8-9B48-4264-BE0F-E0293DDEE6B3}" dt="2026-08-20T16:17:54.639" v="455" actId="20577"/>
          <ac:spMkLst>
            <pc:docMk/>
            <pc:sldMk cId="2424636826" sldId="277"/>
            <ac:spMk id="2" creationId="{26BB8BEF-66E0-362F-09B6-EE7CA9EB16E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31F5AE-F729-40A8-92CB-00AF43FD4D89}"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71765B-0181-42BA-A0F7-036AB04A86F2}" type="slidenum">
              <a:rPr lang="en-US" smtClean="0"/>
              <a:t>‹#›</a:t>
            </a:fld>
            <a:endParaRPr lang="en-US"/>
          </a:p>
        </p:txBody>
      </p:sp>
    </p:spTree>
    <p:extLst>
      <p:ext uri="{BB962C8B-B14F-4D97-AF65-F5344CB8AC3E}">
        <p14:creationId xmlns:p14="http://schemas.microsoft.com/office/powerpoint/2010/main" val="1912803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71765B-0181-42BA-A0F7-036AB04A86F2}" type="slidenum">
              <a:rPr lang="en-US" smtClean="0"/>
              <a:t>4</a:t>
            </a:fld>
            <a:endParaRPr lang="en-US"/>
          </a:p>
        </p:txBody>
      </p:sp>
    </p:spTree>
    <p:extLst>
      <p:ext uri="{BB962C8B-B14F-4D97-AF65-F5344CB8AC3E}">
        <p14:creationId xmlns:p14="http://schemas.microsoft.com/office/powerpoint/2010/main" val="3147878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B9A56EC-21AA-465B-98C2-14C1DE902DB9}"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EEB82-9EE0-4C14-9A9D-1603501FF893}" type="slidenum">
              <a:rPr lang="en-US" smtClean="0"/>
              <a:t>‹#›</a:t>
            </a:fld>
            <a:endParaRPr lang="en-US"/>
          </a:p>
        </p:txBody>
      </p:sp>
    </p:spTree>
    <p:extLst>
      <p:ext uri="{BB962C8B-B14F-4D97-AF65-F5344CB8AC3E}">
        <p14:creationId xmlns:p14="http://schemas.microsoft.com/office/powerpoint/2010/main" val="861155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0B9A56EC-21AA-465B-98C2-14C1DE902DB9}"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EEB82-9EE0-4C14-9A9D-1603501FF893}" type="slidenum">
              <a:rPr lang="en-US" smtClean="0"/>
              <a:t>‹#›</a:t>
            </a:fld>
            <a:endParaRPr lang="en-US"/>
          </a:p>
        </p:txBody>
      </p:sp>
    </p:spTree>
    <p:extLst>
      <p:ext uri="{BB962C8B-B14F-4D97-AF65-F5344CB8AC3E}">
        <p14:creationId xmlns:p14="http://schemas.microsoft.com/office/powerpoint/2010/main" val="985295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9A56EC-21AA-465B-98C2-14C1DE902DB9}"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EEB82-9EE0-4C14-9A9D-1603501FF893}" type="slidenum">
              <a:rPr lang="en-US" smtClean="0"/>
              <a:t>‹#›</a:t>
            </a:fld>
            <a:endParaRPr lang="en-US"/>
          </a:p>
        </p:txBody>
      </p:sp>
    </p:spTree>
    <p:extLst>
      <p:ext uri="{BB962C8B-B14F-4D97-AF65-F5344CB8AC3E}">
        <p14:creationId xmlns:p14="http://schemas.microsoft.com/office/powerpoint/2010/main" val="3977427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B9A56EC-21AA-465B-98C2-14C1DE902DB9}"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FEEB82-9EE0-4C14-9A9D-1603501FF893}" type="slidenum">
              <a:rPr lang="en-US" smtClean="0"/>
              <a:t>‹#›</a:t>
            </a:fld>
            <a:endParaRPr lang="en-US"/>
          </a:p>
        </p:txBody>
      </p:sp>
    </p:spTree>
    <p:extLst>
      <p:ext uri="{BB962C8B-B14F-4D97-AF65-F5344CB8AC3E}">
        <p14:creationId xmlns:p14="http://schemas.microsoft.com/office/powerpoint/2010/main" val="381523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B9A56EC-21AA-465B-98C2-14C1DE902DB9}"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FEEB82-9EE0-4C14-9A9D-1603501FF893}" type="slidenum">
              <a:rPr lang="en-US" smtClean="0"/>
              <a:t>‹#›</a:t>
            </a:fld>
            <a:endParaRPr lang="en-US"/>
          </a:p>
        </p:txBody>
      </p:sp>
    </p:spTree>
    <p:extLst>
      <p:ext uri="{BB962C8B-B14F-4D97-AF65-F5344CB8AC3E}">
        <p14:creationId xmlns:p14="http://schemas.microsoft.com/office/powerpoint/2010/main" val="8099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B9A56EC-21AA-465B-98C2-14C1DE902DB9}" type="datetimeFigureOut">
              <a:rPr lang="en-US" smtClean="0"/>
              <a:t>8/20/2026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98FEEB82-9EE0-4C14-9A9D-1603501FF893}" type="slidenum">
              <a:rPr lang="en-US" smtClean="0"/>
              <a:t>‹#›</a:t>
            </a:fld>
            <a:endParaRPr lang="en-US"/>
          </a:p>
        </p:txBody>
      </p:sp>
    </p:spTree>
    <p:extLst>
      <p:ext uri="{BB962C8B-B14F-4D97-AF65-F5344CB8AC3E}">
        <p14:creationId xmlns:p14="http://schemas.microsoft.com/office/powerpoint/2010/main" val="4058379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B9A56EC-21AA-465B-98C2-14C1DE902DB9}" type="datetimeFigureOut">
              <a:rPr lang="en-US" smtClean="0"/>
              <a:t>8/20/2026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98FEEB82-9EE0-4C14-9A9D-1603501FF893}" type="slidenum">
              <a:rPr lang="en-US" smtClean="0"/>
              <a:t>‹#›</a:t>
            </a:fld>
            <a:endParaRPr lang="en-US"/>
          </a:p>
        </p:txBody>
      </p:sp>
    </p:spTree>
    <p:extLst>
      <p:ext uri="{BB962C8B-B14F-4D97-AF65-F5344CB8AC3E}">
        <p14:creationId xmlns:p14="http://schemas.microsoft.com/office/powerpoint/2010/main" val="2836714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0B9A56EC-21AA-465B-98C2-14C1DE902DB9}" type="datetimeFigureOut">
              <a:rPr lang="en-US" smtClean="0"/>
              <a:t>8/20/2026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98FEEB82-9EE0-4C14-9A9D-1603501FF893}" type="slidenum">
              <a:rPr lang="en-US" smtClean="0"/>
              <a:t>‹#›</a:t>
            </a:fld>
            <a:endParaRPr lang="en-US"/>
          </a:p>
        </p:txBody>
      </p:sp>
    </p:spTree>
    <p:extLst>
      <p:ext uri="{BB962C8B-B14F-4D97-AF65-F5344CB8AC3E}">
        <p14:creationId xmlns:p14="http://schemas.microsoft.com/office/powerpoint/2010/main" val="165094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9A56EC-21AA-465B-98C2-14C1DE902DB9}"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FEEB82-9EE0-4C14-9A9D-1603501FF893}" type="slidenum">
              <a:rPr lang="en-US" smtClean="0"/>
              <a:t>‹#›</a:t>
            </a:fld>
            <a:endParaRPr lang="en-US"/>
          </a:p>
        </p:txBody>
      </p:sp>
    </p:spTree>
    <p:extLst>
      <p:ext uri="{BB962C8B-B14F-4D97-AF65-F5344CB8AC3E}">
        <p14:creationId xmlns:p14="http://schemas.microsoft.com/office/powerpoint/2010/main" val="1924070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9A56EC-21AA-465B-98C2-14C1DE902DB9}"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FEEB82-9EE0-4C14-9A9D-1603501FF893}" type="slidenum">
              <a:rPr lang="en-US" smtClean="0"/>
              <a:t>‹#›</a:t>
            </a:fld>
            <a:endParaRPr lang="en-US"/>
          </a:p>
        </p:txBody>
      </p:sp>
    </p:spTree>
    <p:extLst>
      <p:ext uri="{BB962C8B-B14F-4D97-AF65-F5344CB8AC3E}">
        <p14:creationId xmlns:p14="http://schemas.microsoft.com/office/powerpoint/2010/main" val="2122164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B9A56EC-21AA-465B-98C2-14C1DE902DB9}"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EEB82-9EE0-4C14-9A9D-1603501FF893}" type="slidenum">
              <a:rPr lang="en-US" smtClean="0"/>
              <a:t>‹#›</a:t>
            </a:fld>
            <a:endParaRPr lang="en-US"/>
          </a:p>
        </p:txBody>
      </p:sp>
    </p:spTree>
    <p:extLst>
      <p:ext uri="{BB962C8B-B14F-4D97-AF65-F5344CB8AC3E}">
        <p14:creationId xmlns:p14="http://schemas.microsoft.com/office/powerpoint/2010/main" val="38362690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B9A56EC-21AA-465B-98C2-14C1DE902DB9}"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EEB82-9EE0-4C14-9A9D-1603501FF893}"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3814178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9A56EC-21AA-465B-98C2-14C1DE902DB9}"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EEB82-9EE0-4C14-9A9D-1603501FF893}" type="slidenum">
              <a:rPr lang="en-US" smtClean="0"/>
              <a:t>‹#›</a:t>
            </a:fld>
            <a:endParaRPr lang="en-US"/>
          </a:p>
        </p:txBody>
      </p:sp>
    </p:spTree>
    <p:extLst>
      <p:ext uri="{BB962C8B-B14F-4D97-AF65-F5344CB8AC3E}">
        <p14:creationId xmlns:p14="http://schemas.microsoft.com/office/powerpoint/2010/main" val="980095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B9A56EC-21AA-465B-98C2-14C1DE902DB9}" type="datetimeFigureOut">
              <a:rPr lang="en-US" smtClean="0"/>
              <a:t>8/20/2026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EEB82-9EE0-4C14-9A9D-1603501FF893}" type="slidenum">
              <a:rPr lang="en-US" smtClean="0"/>
              <a:t>‹#›</a:t>
            </a:fld>
            <a:endParaRPr lang="en-US"/>
          </a:p>
        </p:txBody>
      </p:sp>
    </p:spTree>
    <p:extLst>
      <p:ext uri="{BB962C8B-B14F-4D97-AF65-F5344CB8AC3E}">
        <p14:creationId xmlns:p14="http://schemas.microsoft.com/office/powerpoint/2010/main" val="31351011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B9A56EC-21AA-465B-98C2-14C1DE902DB9}" type="datetimeFigureOut">
              <a:rPr lang="en-US" smtClean="0"/>
              <a:t>8/20/2026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EEB82-9EE0-4C14-9A9D-1603501FF893}" type="slidenum">
              <a:rPr lang="en-US" smtClean="0"/>
              <a:t>‹#›</a:t>
            </a:fld>
            <a:endParaRPr lang="en-US"/>
          </a:p>
        </p:txBody>
      </p:sp>
    </p:spTree>
    <p:extLst>
      <p:ext uri="{BB962C8B-B14F-4D97-AF65-F5344CB8AC3E}">
        <p14:creationId xmlns:p14="http://schemas.microsoft.com/office/powerpoint/2010/main" val="13746612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9A56EC-21AA-465B-98C2-14C1DE902DB9}"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EEB82-9EE0-4C14-9A9D-1603501FF893}" type="slidenum">
              <a:rPr lang="en-US" smtClean="0"/>
              <a:t>‹#›</a:t>
            </a:fld>
            <a:endParaRPr lang="en-US"/>
          </a:p>
        </p:txBody>
      </p:sp>
    </p:spTree>
    <p:extLst>
      <p:ext uri="{BB962C8B-B14F-4D97-AF65-F5344CB8AC3E}">
        <p14:creationId xmlns:p14="http://schemas.microsoft.com/office/powerpoint/2010/main" val="933941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9A56EC-21AA-465B-98C2-14C1DE902DB9}"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EEB82-9EE0-4C14-9A9D-1603501FF893}" type="slidenum">
              <a:rPr lang="en-US" smtClean="0"/>
              <a:t>‹#›</a:t>
            </a:fld>
            <a:endParaRPr lang="en-US"/>
          </a:p>
        </p:txBody>
      </p:sp>
    </p:spTree>
    <p:extLst>
      <p:ext uri="{BB962C8B-B14F-4D97-AF65-F5344CB8AC3E}">
        <p14:creationId xmlns:p14="http://schemas.microsoft.com/office/powerpoint/2010/main" val="1828531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B9A56EC-21AA-465B-98C2-14C1DE902DB9}" type="datetimeFigureOut">
              <a:rPr lang="en-US" smtClean="0"/>
              <a:t>8/20/2026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8FEEB82-9EE0-4C14-9A9D-1603501FF893}" type="slidenum">
              <a:rPr lang="en-US" smtClean="0"/>
              <a:t>‹#›</a:t>
            </a:fld>
            <a:endParaRPr lang="en-US"/>
          </a:p>
        </p:txBody>
      </p:sp>
    </p:spTree>
    <p:extLst>
      <p:ext uri="{BB962C8B-B14F-4D97-AF65-F5344CB8AC3E}">
        <p14:creationId xmlns:p14="http://schemas.microsoft.com/office/powerpoint/2010/main" val="555063643"/>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4A669-F98F-F6A6-604F-B2AC61FBA797}"/>
              </a:ext>
            </a:extLst>
          </p:cNvPr>
          <p:cNvSpPr>
            <a:spLocks noGrp="1"/>
          </p:cNvSpPr>
          <p:nvPr>
            <p:ph type="ctrTitle"/>
          </p:nvPr>
        </p:nvSpPr>
        <p:spPr/>
        <p:txBody>
          <a:bodyPr/>
          <a:lstStyle/>
          <a:p>
            <a:r>
              <a:rPr lang="en-US" dirty="0"/>
              <a:t>Customer Churn Prediction Using Machine Learning</a:t>
            </a:r>
          </a:p>
        </p:txBody>
      </p:sp>
      <p:sp>
        <p:nvSpPr>
          <p:cNvPr id="3" name="Subtitle 2">
            <a:extLst>
              <a:ext uri="{FF2B5EF4-FFF2-40B4-BE49-F238E27FC236}">
                <a16:creationId xmlns:a16="http://schemas.microsoft.com/office/drawing/2014/main" id="{1F2B4EDA-A889-F5B2-2F5A-01E34F34A72B}"/>
              </a:ext>
            </a:extLst>
          </p:cNvPr>
          <p:cNvSpPr>
            <a:spLocks noGrp="1"/>
          </p:cNvSpPr>
          <p:nvPr>
            <p:ph type="subTitle" idx="1"/>
          </p:nvPr>
        </p:nvSpPr>
        <p:spPr/>
        <p:txBody>
          <a:bodyPr/>
          <a:lstStyle/>
          <a:p>
            <a:r>
              <a:rPr lang="en-US" dirty="0"/>
              <a:t>By: Kedhar Swaminathan </a:t>
            </a:r>
          </a:p>
        </p:txBody>
      </p:sp>
    </p:spTree>
    <p:extLst>
      <p:ext uri="{BB962C8B-B14F-4D97-AF65-F5344CB8AC3E}">
        <p14:creationId xmlns:p14="http://schemas.microsoft.com/office/powerpoint/2010/main" val="1373727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6987C-B738-A552-B103-71E959692AFD}"/>
              </a:ext>
            </a:extLst>
          </p:cNvPr>
          <p:cNvSpPr>
            <a:spLocks noGrp="1"/>
          </p:cNvSpPr>
          <p:nvPr>
            <p:ph type="title"/>
          </p:nvPr>
        </p:nvSpPr>
        <p:spPr/>
        <p:txBody>
          <a:bodyPr/>
          <a:lstStyle/>
          <a:p>
            <a:r>
              <a:rPr lang="en-US" dirty="0"/>
              <a:t>The Business Problem</a:t>
            </a:r>
          </a:p>
        </p:txBody>
      </p:sp>
      <p:sp>
        <p:nvSpPr>
          <p:cNvPr id="3" name="Content Placeholder 2">
            <a:extLst>
              <a:ext uri="{FF2B5EF4-FFF2-40B4-BE49-F238E27FC236}">
                <a16:creationId xmlns:a16="http://schemas.microsoft.com/office/drawing/2014/main" id="{7AC1B672-D121-D69B-211C-0E8AF495D546}"/>
              </a:ext>
            </a:extLst>
          </p:cNvPr>
          <p:cNvSpPr>
            <a:spLocks noGrp="1"/>
          </p:cNvSpPr>
          <p:nvPr>
            <p:ph idx="1"/>
          </p:nvPr>
        </p:nvSpPr>
        <p:spPr/>
        <p:txBody>
          <a:bodyPr/>
          <a:lstStyle/>
          <a:p>
            <a:r>
              <a:rPr lang="en-US" dirty="0"/>
              <a:t>Customer churn = customers discontinuing their subscription</a:t>
            </a:r>
          </a:p>
          <a:p>
            <a:r>
              <a:rPr lang="en-US" dirty="0"/>
              <a:t>Some of the side-effects of customer churn are:</a:t>
            </a:r>
          </a:p>
          <a:p>
            <a:pPr lvl="1"/>
            <a:r>
              <a:rPr lang="en-US" dirty="0"/>
              <a:t>Lost recurring revenue</a:t>
            </a:r>
          </a:p>
          <a:p>
            <a:pPr lvl="1"/>
            <a:r>
              <a:rPr lang="en-US" dirty="0"/>
              <a:t>Higher customer-acquisition costs</a:t>
            </a:r>
          </a:p>
          <a:p>
            <a:pPr lvl="1"/>
            <a:r>
              <a:rPr lang="en-US" dirty="0"/>
              <a:t>Missed retention opportunities</a:t>
            </a:r>
          </a:p>
          <a:p>
            <a:pPr lvl="1"/>
            <a:endParaRPr lang="en-US" dirty="0"/>
          </a:p>
        </p:txBody>
      </p:sp>
    </p:spTree>
    <p:extLst>
      <p:ext uri="{BB962C8B-B14F-4D97-AF65-F5344CB8AC3E}">
        <p14:creationId xmlns:p14="http://schemas.microsoft.com/office/powerpoint/2010/main" val="2849930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32FFB-28EB-48D7-A9C9-CC9C0B1005E9}"/>
              </a:ext>
            </a:extLst>
          </p:cNvPr>
          <p:cNvSpPr>
            <a:spLocks noGrp="1"/>
          </p:cNvSpPr>
          <p:nvPr>
            <p:ph type="title"/>
          </p:nvPr>
        </p:nvSpPr>
        <p:spPr/>
        <p:txBody>
          <a:bodyPr/>
          <a:lstStyle/>
          <a:p>
            <a:r>
              <a:rPr lang="en-US" dirty="0"/>
              <a:t>Can We Predict Customer Churn?</a:t>
            </a:r>
            <a:br>
              <a:rPr lang="en-US" b="1" dirty="0"/>
            </a:br>
            <a:endParaRPr lang="en-US" dirty="0"/>
          </a:p>
        </p:txBody>
      </p:sp>
      <p:sp>
        <p:nvSpPr>
          <p:cNvPr id="3" name="Content Placeholder 2">
            <a:extLst>
              <a:ext uri="{FF2B5EF4-FFF2-40B4-BE49-F238E27FC236}">
                <a16:creationId xmlns:a16="http://schemas.microsoft.com/office/drawing/2014/main" id="{4B1DEC2B-FAC8-AE83-1A0C-EF49EBE496CC}"/>
              </a:ext>
            </a:extLst>
          </p:cNvPr>
          <p:cNvSpPr>
            <a:spLocks noGrp="1"/>
          </p:cNvSpPr>
          <p:nvPr>
            <p:ph idx="1"/>
          </p:nvPr>
        </p:nvSpPr>
        <p:spPr/>
        <p:txBody>
          <a:bodyPr/>
          <a:lstStyle/>
          <a:p>
            <a:r>
              <a:rPr lang="en-US" dirty="0"/>
              <a:t>Can customer demographic, account, service, and billing information be used to predict which customers are most likely to churn?</a:t>
            </a:r>
          </a:p>
          <a:p>
            <a:r>
              <a:rPr lang="en-US" dirty="0"/>
              <a:t>We can also use this questions to answer several other secondary questions:</a:t>
            </a:r>
          </a:p>
          <a:p>
            <a:pPr lvl="1"/>
            <a:r>
              <a:rPr lang="en-US" dirty="0"/>
              <a:t>Which customer characteristics are associated with churn?</a:t>
            </a:r>
          </a:p>
          <a:p>
            <a:pPr lvl="1"/>
            <a:r>
              <a:rPr lang="en-US" dirty="0"/>
              <a:t>Which machine-learning model performs best?</a:t>
            </a:r>
          </a:p>
          <a:p>
            <a:pPr lvl="1"/>
            <a:r>
              <a:rPr lang="en-US" dirty="0"/>
              <a:t>Which features are most useful for predicting churn?</a:t>
            </a:r>
          </a:p>
          <a:p>
            <a:pPr lvl="1"/>
            <a:r>
              <a:rPr lang="en-US" dirty="0"/>
              <a:t>How could predictions support retention?</a:t>
            </a:r>
          </a:p>
          <a:p>
            <a:pPr lvl="1"/>
            <a:endParaRPr lang="en-US" dirty="0"/>
          </a:p>
        </p:txBody>
      </p:sp>
    </p:spTree>
    <p:extLst>
      <p:ext uri="{BB962C8B-B14F-4D97-AF65-F5344CB8AC3E}">
        <p14:creationId xmlns:p14="http://schemas.microsoft.com/office/powerpoint/2010/main" val="573608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29306-8D4A-1F77-4AE1-ED09B0613612}"/>
              </a:ext>
            </a:extLst>
          </p:cNvPr>
          <p:cNvSpPr>
            <a:spLocks noGrp="1"/>
          </p:cNvSpPr>
          <p:nvPr>
            <p:ph type="title"/>
          </p:nvPr>
        </p:nvSpPr>
        <p:spPr/>
        <p:txBody>
          <a:bodyPr/>
          <a:lstStyle/>
          <a:p>
            <a:r>
              <a:rPr lang="en-US" dirty="0"/>
              <a:t>Telco Customer Churn Dataset</a:t>
            </a:r>
            <a:br>
              <a:rPr lang="en-US" b="1" dirty="0"/>
            </a:br>
            <a:endParaRPr lang="en-US" dirty="0"/>
          </a:p>
        </p:txBody>
      </p:sp>
      <p:sp>
        <p:nvSpPr>
          <p:cNvPr id="3" name="Content Placeholder 2">
            <a:extLst>
              <a:ext uri="{FF2B5EF4-FFF2-40B4-BE49-F238E27FC236}">
                <a16:creationId xmlns:a16="http://schemas.microsoft.com/office/drawing/2014/main" id="{AB83E7EC-5389-BEFC-C147-53C9406DF8EB}"/>
              </a:ext>
            </a:extLst>
          </p:cNvPr>
          <p:cNvSpPr>
            <a:spLocks noGrp="1"/>
          </p:cNvSpPr>
          <p:nvPr>
            <p:ph idx="1"/>
          </p:nvPr>
        </p:nvSpPr>
        <p:spPr/>
        <p:txBody>
          <a:bodyPr/>
          <a:lstStyle/>
          <a:p>
            <a:r>
              <a:rPr lang="en-US" dirty="0"/>
              <a:t>The dataset contains 7043 customers, 21 variables, and 26.5% of the customers’ churn</a:t>
            </a:r>
          </a:p>
          <a:p>
            <a:endParaRPr lang="en-US" dirty="0"/>
          </a:p>
          <a:p>
            <a:endParaRPr lang="en-US" dirty="0"/>
          </a:p>
        </p:txBody>
      </p:sp>
      <p:graphicFrame>
        <p:nvGraphicFramePr>
          <p:cNvPr id="4" name="Table 3">
            <a:extLst>
              <a:ext uri="{FF2B5EF4-FFF2-40B4-BE49-F238E27FC236}">
                <a16:creationId xmlns:a16="http://schemas.microsoft.com/office/drawing/2014/main" id="{02C0CA8C-B559-5568-E8E9-6B91B9AC3111}"/>
              </a:ext>
            </a:extLst>
          </p:cNvPr>
          <p:cNvGraphicFramePr>
            <a:graphicFrameLocks noGrp="1"/>
          </p:cNvGraphicFramePr>
          <p:nvPr>
            <p:extLst>
              <p:ext uri="{D42A27DB-BD31-4B8C-83A1-F6EECF244321}">
                <p14:modId xmlns:p14="http://schemas.microsoft.com/office/powerpoint/2010/main" val="3462952788"/>
              </p:ext>
            </p:extLst>
          </p:nvPr>
        </p:nvGraphicFramePr>
        <p:xfrm>
          <a:off x="1103312" y="3053239"/>
          <a:ext cx="9188844" cy="2336910"/>
        </p:xfrm>
        <a:graphic>
          <a:graphicData uri="http://schemas.openxmlformats.org/drawingml/2006/table">
            <a:tbl>
              <a:tblPr/>
              <a:tblGrid>
                <a:gridCol w="4594422">
                  <a:extLst>
                    <a:ext uri="{9D8B030D-6E8A-4147-A177-3AD203B41FA5}">
                      <a16:colId xmlns:a16="http://schemas.microsoft.com/office/drawing/2014/main" val="923860682"/>
                    </a:ext>
                  </a:extLst>
                </a:gridCol>
                <a:gridCol w="4594422">
                  <a:extLst>
                    <a:ext uri="{9D8B030D-6E8A-4147-A177-3AD203B41FA5}">
                      <a16:colId xmlns:a16="http://schemas.microsoft.com/office/drawing/2014/main" val="1034827952"/>
                    </a:ext>
                  </a:extLst>
                </a:gridCol>
              </a:tblGrid>
              <a:tr h="389485">
                <a:tc>
                  <a:txBody>
                    <a:bodyPr/>
                    <a:lstStyle/>
                    <a:p>
                      <a:pPr>
                        <a:buNone/>
                      </a:pPr>
                      <a:r>
                        <a:rPr lang="en-US"/>
                        <a:t>Customer Information</a:t>
                      </a:r>
                    </a:p>
                  </a:txBody>
                  <a:tcPr anchor="ctr">
                    <a:lnL>
                      <a:noFill/>
                    </a:lnL>
                    <a:lnR>
                      <a:noFill/>
                    </a:lnR>
                    <a:lnT>
                      <a:noFill/>
                    </a:lnT>
                    <a:lnB>
                      <a:noFill/>
                    </a:lnB>
                    <a:noFill/>
                  </a:tcPr>
                </a:tc>
                <a:tc>
                  <a:txBody>
                    <a:bodyPr/>
                    <a:lstStyle/>
                    <a:p>
                      <a:pPr>
                        <a:buNone/>
                      </a:pPr>
                      <a:r>
                        <a:rPr lang="en-US"/>
                        <a:t>Examples</a:t>
                      </a:r>
                    </a:p>
                  </a:txBody>
                  <a:tcPr anchor="ctr">
                    <a:lnL>
                      <a:noFill/>
                    </a:lnL>
                    <a:lnR>
                      <a:noFill/>
                    </a:lnR>
                    <a:lnT>
                      <a:noFill/>
                    </a:lnT>
                    <a:lnB>
                      <a:noFill/>
                    </a:lnB>
                    <a:noFill/>
                  </a:tcPr>
                </a:tc>
                <a:extLst>
                  <a:ext uri="{0D108BD9-81ED-4DB2-BD59-A6C34878D82A}">
                    <a16:rowId xmlns:a16="http://schemas.microsoft.com/office/drawing/2014/main" val="842133351"/>
                  </a:ext>
                </a:extLst>
              </a:tr>
              <a:tr h="389485">
                <a:tc>
                  <a:txBody>
                    <a:bodyPr/>
                    <a:lstStyle/>
                    <a:p>
                      <a:pPr>
                        <a:buNone/>
                      </a:pPr>
                      <a:r>
                        <a:rPr lang="en-US" dirty="0"/>
                        <a:t>Demographics</a:t>
                      </a:r>
                    </a:p>
                  </a:txBody>
                  <a:tcPr anchor="ctr">
                    <a:lnL>
                      <a:noFill/>
                    </a:lnL>
                    <a:lnR>
                      <a:noFill/>
                    </a:lnR>
                    <a:lnT>
                      <a:noFill/>
                    </a:lnT>
                    <a:lnB>
                      <a:noFill/>
                    </a:lnB>
                    <a:noFill/>
                  </a:tcPr>
                </a:tc>
                <a:tc>
                  <a:txBody>
                    <a:bodyPr/>
                    <a:lstStyle/>
                    <a:p>
                      <a:pPr>
                        <a:buNone/>
                      </a:pPr>
                      <a:r>
                        <a:rPr lang="en-US" dirty="0"/>
                        <a:t>Gender, Senior Citizen, Dependents</a:t>
                      </a:r>
                    </a:p>
                  </a:txBody>
                  <a:tcPr anchor="ctr">
                    <a:lnL>
                      <a:noFill/>
                    </a:lnL>
                    <a:lnR>
                      <a:noFill/>
                    </a:lnR>
                    <a:lnT>
                      <a:noFill/>
                    </a:lnT>
                    <a:lnB>
                      <a:noFill/>
                    </a:lnB>
                    <a:noFill/>
                  </a:tcPr>
                </a:tc>
                <a:extLst>
                  <a:ext uri="{0D108BD9-81ED-4DB2-BD59-A6C34878D82A}">
                    <a16:rowId xmlns:a16="http://schemas.microsoft.com/office/drawing/2014/main" val="3761700879"/>
                  </a:ext>
                </a:extLst>
              </a:tr>
              <a:tr h="389485">
                <a:tc>
                  <a:txBody>
                    <a:bodyPr/>
                    <a:lstStyle/>
                    <a:p>
                      <a:pPr>
                        <a:buNone/>
                      </a:pPr>
                      <a:r>
                        <a:rPr lang="en-US"/>
                        <a:t>Account</a:t>
                      </a:r>
                    </a:p>
                  </a:txBody>
                  <a:tcPr anchor="ctr">
                    <a:lnL>
                      <a:noFill/>
                    </a:lnL>
                    <a:lnR>
                      <a:noFill/>
                    </a:lnR>
                    <a:lnT>
                      <a:noFill/>
                    </a:lnT>
                    <a:lnB>
                      <a:noFill/>
                    </a:lnB>
                    <a:noFill/>
                  </a:tcPr>
                </a:tc>
                <a:tc>
                  <a:txBody>
                    <a:bodyPr/>
                    <a:lstStyle/>
                    <a:p>
                      <a:pPr>
                        <a:buNone/>
                      </a:pPr>
                      <a:r>
                        <a:rPr lang="en-US"/>
                        <a:t>Tenure, Contract</a:t>
                      </a:r>
                    </a:p>
                  </a:txBody>
                  <a:tcPr anchor="ctr">
                    <a:lnL>
                      <a:noFill/>
                    </a:lnL>
                    <a:lnR>
                      <a:noFill/>
                    </a:lnR>
                    <a:lnT>
                      <a:noFill/>
                    </a:lnT>
                    <a:lnB>
                      <a:noFill/>
                    </a:lnB>
                    <a:noFill/>
                  </a:tcPr>
                </a:tc>
                <a:extLst>
                  <a:ext uri="{0D108BD9-81ED-4DB2-BD59-A6C34878D82A}">
                    <a16:rowId xmlns:a16="http://schemas.microsoft.com/office/drawing/2014/main" val="1916973818"/>
                  </a:ext>
                </a:extLst>
              </a:tr>
              <a:tr h="389485">
                <a:tc>
                  <a:txBody>
                    <a:bodyPr/>
                    <a:lstStyle/>
                    <a:p>
                      <a:pPr>
                        <a:buNone/>
                      </a:pPr>
                      <a:r>
                        <a:rPr lang="en-US" dirty="0"/>
                        <a:t>Services</a:t>
                      </a:r>
                    </a:p>
                  </a:txBody>
                  <a:tcPr anchor="ctr">
                    <a:lnL>
                      <a:noFill/>
                    </a:lnL>
                    <a:lnR>
                      <a:noFill/>
                    </a:lnR>
                    <a:lnT>
                      <a:noFill/>
                    </a:lnT>
                    <a:lnB>
                      <a:noFill/>
                    </a:lnB>
                    <a:noFill/>
                  </a:tcPr>
                </a:tc>
                <a:tc>
                  <a:txBody>
                    <a:bodyPr/>
                    <a:lstStyle/>
                    <a:p>
                      <a:pPr>
                        <a:buNone/>
                      </a:pPr>
                      <a:r>
                        <a:rPr lang="en-US"/>
                        <a:t>Internet, Security, Tech Support</a:t>
                      </a:r>
                    </a:p>
                  </a:txBody>
                  <a:tcPr anchor="ctr">
                    <a:lnL>
                      <a:noFill/>
                    </a:lnL>
                    <a:lnR>
                      <a:noFill/>
                    </a:lnR>
                    <a:lnT>
                      <a:noFill/>
                    </a:lnT>
                    <a:lnB>
                      <a:noFill/>
                    </a:lnB>
                    <a:noFill/>
                  </a:tcPr>
                </a:tc>
                <a:extLst>
                  <a:ext uri="{0D108BD9-81ED-4DB2-BD59-A6C34878D82A}">
                    <a16:rowId xmlns:a16="http://schemas.microsoft.com/office/drawing/2014/main" val="580100385"/>
                  </a:ext>
                </a:extLst>
              </a:tr>
              <a:tr h="389485">
                <a:tc>
                  <a:txBody>
                    <a:bodyPr/>
                    <a:lstStyle/>
                    <a:p>
                      <a:pPr>
                        <a:buNone/>
                      </a:pPr>
                      <a:r>
                        <a:rPr lang="en-US"/>
                        <a:t>Billing</a:t>
                      </a:r>
                    </a:p>
                  </a:txBody>
                  <a:tcPr anchor="ctr">
                    <a:lnL>
                      <a:noFill/>
                    </a:lnL>
                    <a:lnR>
                      <a:noFill/>
                    </a:lnR>
                    <a:lnT>
                      <a:noFill/>
                    </a:lnT>
                    <a:lnB>
                      <a:noFill/>
                    </a:lnB>
                    <a:noFill/>
                  </a:tcPr>
                </a:tc>
                <a:tc>
                  <a:txBody>
                    <a:bodyPr/>
                    <a:lstStyle/>
                    <a:p>
                      <a:pPr>
                        <a:buNone/>
                      </a:pPr>
                      <a:r>
                        <a:rPr lang="en-US" dirty="0"/>
                        <a:t>Monthly Charges, Total Charges</a:t>
                      </a:r>
                    </a:p>
                  </a:txBody>
                  <a:tcPr anchor="ctr">
                    <a:lnL>
                      <a:noFill/>
                    </a:lnL>
                    <a:lnR>
                      <a:noFill/>
                    </a:lnR>
                    <a:lnT>
                      <a:noFill/>
                    </a:lnT>
                    <a:lnB>
                      <a:noFill/>
                    </a:lnB>
                    <a:noFill/>
                  </a:tcPr>
                </a:tc>
                <a:extLst>
                  <a:ext uri="{0D108BD9-81ED-4DB2-BD59-A6C34878D82A}">
                    <a16:rowId xmlns:a16="http://schemas.microsoft.com/office/drawing/2014/main" val="3388982462"/>
                  </a:ext>
                </a:extLst>
              </a:tr>
              <a:tr h="389485">
                <a:tc>
                  <a:txBody>
                    <a:bodyPr/>
                    <a:lstStyle/>
                    <a:p>
                      <a:pPr>
                        <a:buNone/>
                      </a:pPr>
                      <a:r>
                        <a:rPr lang="en-US"/>
                        <a:t>Target</a:t>
                      </a:r>
                    </a:p>
                  </a:txBody>
                  <a:tcPr anchor="ctr">
                    <a:lnL>
                      <a:noFill/>
                    </a:lnL>
                    <a:lnR>
                      <a:noFill/>
                    </a:lnR>
                    <a:lnT>
                      <a:noFill/>
                    </a:lnT>
                    <a:lnB>
                      <a:noFill/>
                    </a:lnB>
                    <a:noFill/>
                  </a:tcPr>
                </a:tc>
                <a:tc>
                  <a:txBody>
                    <a:bodyPr/>
                    <a:lstStyle/>
                    <a:p>
                      <a:pPr>
                        <a:buNone/>
                      </a:pPr>
                      <a:r>
                        <a:rPr lang="en-US" dirty="0"/>
                        <a:t>Churn</a:t>
                      </a:r>
                    </a:p>
                  </a:txBody>
                  <a:tcPr anchor="ctr">
                    <a:lnL>
                      <a:noFill/>
                    </a:lnL>
                    <a:lnR>
                      <a:noFill/>
                    </a:lnR>
                    <a:lnT>
                      <a:noFill/>
                    </a:lnT>
                    <a:lnB>
                      <a:noFill/>
                    </a:lnB>
                    <a:noFill/>
                  </a:tcPr>
                </a:tc>
                <a:extLst>
                  <a:ext uri="{0D108BD9-81ED-4DB2-BD59-A6C34878D82A}">
                    <a16:rowId xmlns:a16="http://schemas.microsoft.com/office/drawing/2014/main" val="510495282"/>
                  </a:ext>
                </a:extLst>
              </a:tr>
            </a:tbl>
          </a:graphicData>
        </a:graphic>
      </p:graphicFrame>
    </p:spTree>
    <p:extLst>
      <p:ext uri="{BB962C8B-B14F-4D97-AF65-F5344CB8AC3E}">
        <p14:creationId xmlns:p14="http://schemas.microsoft.com/office/powerpoint/2010/main" val="3685584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E4FB5-0765-1DB2-A250-0FE5EAC05A57}"/>
              </a:ext>
            </a:extLst>
          </p:cNvPr>
          <p:cNvSpPr>
            <a:spLocks noGrp="1"/>
          </p:cNvSpPr>
          <p:nvPr>
            <p:ph type="title"/>
          </p:nvPr>
        </p:nvSpPr>
        <p:spPr/>
        <p:txBody>
          <a:bodyPr/>
          <a:lstStyle/>
          <a:p>
            <a:r>
              <a:rPr lang="en-US" dirty="0"/>
              <a:t>Before Modeling: Is the Data Trustworthy?</a:t>
            </a:r>
          </a:p>
        </p:txBody>
      </p:sp>
      <p:sp>
        <p:nvSpPr>
          <p:cNvPr id="3" name="Content Placeholder 2">
            <a:extLst>
              <a:ext uri="{FF2B5EF4-FFF2-40B4-BE49-F238E27FC236}">
                <a16:creationId xmlns:a16="http://schemas.microsoft.com/office/drawing/2014/main" id="{8B0C048F-6DDA-DEFD-C03D-D7D822BE9C7E}"/>
              </a:ext>
            </a:extLst>
          </p:cNvPr>
          <p:cNvSpPr>
            <a:spLocks noGrp="1"/>
          </p:cNvSpPr>
          <p:nvPr>
            <p:ph idx="1"/>
          </p:nvPr>
        </p:nvSpPr>
        <p:spPr/>
        <p:txBody>
          <a:bodyPr>
            <a:normAutofit fontScale="92500" lnSpcReduction="10000"/>
          </a:bodyPr>
          <a:lstStyle/>
          <a:p>
            <a:r>
              <a:rPr lang="en-US" dirty="0"/>
              <a:t>The initial dataset: 7,043 rows × 21 columns</a:t>
            </a:r>
          </a:p>
          <a:p>
            <a:r>
              <a:rPr lang="en-US" dirty="0"/>
              <a:t>Data quality checks:</a:t>
            </a:r>
          </a:p>
          <a:p>
            <a:pPr lvl="1"/>
            <a:r>
              <a:rPr lang="en-US" dirty="0"/>
              <a:t>Missing values</a:t>
            </a:r>
          </a:p>
          <a:p>
            <a:pPr lvl="1"/>
            <a:r>
              <a:rPr lang="en-US" dirty="0"/>
              <a:t> Incorrect data types </a:t>
            </a:r>
          </a:p>
          <a:p>
            <a:pPr lvl="1"/>
            <a:r>
              <a:rPr lang="en-US" dirty="0"/>
              <a:t>Duplicate records </a:t>
            </a:r>
          </a:p>
          <a:p>
            <a:pPr lvl="1"/>
            <a:r>
              <a:rPr lang="en-US" dirty="0"/>
              <a:t>Unique categories </a:t>
            </a:r>
          </a:p>
          <a:p>
            <a:pPr lvl="1"/>
            <a:r>
              <a:rPr lang="en-US" dirty="0"/>
              <a:t>Unique categories </a:t>
            </a:r>
          </a:p>
          <a:p>
            <a:pPr lvl="1"/>
            <a:r>
              <a:rPr lang="en-US" dirty="0"/>
              <a:t>Target variables</a:t>
            </a:r>
          </a:p>
          <a:p>
            <a:pPr marL="400050"/>
            <a:r>
              <a:rPr lang="en-US" dirty="0"/>
              <a:t>One important issue involved </a:t>
            </a:r>
            <a:r>
              <a:rPr lang="en-US" dirty="0" err="1"/>
              <a:t>TotalCharges</a:t>
            </a:r>
            <a:r>
              <a:rPr lang="en-US" dirty="0"/>
              <a:t>. Although the initial null check did not identify missing values, further inspection showed that some observations contained blank strings rather than actual missing-value markers</a:t>
            </a:r>
          </a:p>
        </p:txBody>
      </p:sp>
    </p:spTree>
    <p:extLst>
      <p:ext uri="{BB962C8B-B14F-4D97-AF65-F5344CB8AC3E}">
        <p14:creationId xmlns:p14="http://schemas.microsoft.com/office/powerpoint/2010/main" val="129589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10ACE-CADB-7149-2D4A-BBCDE5D974A5}"/>
              </a:ext>
            </a:extLst>
          </p:cNvPr>
          <p:cNvSpPr>
            <a:spLocks noGrp="1"/>
          </p:cNvSpPr>
          <p:nvPr>
            <p:ph type="title"/>
          </p:nvPr>
        </p:nvSpPr>
        <p:spPr/>
        <p:txBody>
          <a:bodyPr/>
          <a:lstStyle/>
          <a:p>
            <a:r>
              <a:rPr lang="en-US" dirty="0"/>
              <a:t>Understanding Who Churns</a:t>
            </a:r>
          </a:p>
        </p:txBody>
      </p:sp>
      <p:sp>
        <p:nvSpPr>
          <p:cNvPr id="3" name="Content Placeholder 2">
            <a:extLst>
              <a:ext uri="{FF2B5EF4-FFF2-40B4-BE49-F238E27FC236}">
                <a16:creationId xmlns:a16="http://schemas.microsoft.com/office/drawing/2014/main" id="{93E8D269-39DB-E1E2-8B4F-C770E328555E}"/>
              </a:ext>
            </a:extLst>
          </p:cNvPr>
          <p:cNvSpPr>
            <a:spLocks noGrp="1"/>
          </p:cNvSpPr>
          <p:nvPr>
            <p:ph idx="1"/>
          </p:nvPr>
        </p:nvSpPr>
        <p:spPr/>
        <p:txBody>
          <a:bodyPr/>
          <a:lstStyle/>
          <a:p>
            <a:r>
              <a:rPr lang="en-US" dirty="0"/>
              <a:t>To understand customer churn and why it happens we investigated several variables such as churn distribution, contract type, tenure, monthly charges, total charges, etc.…</a:t>
            </a:r>
          </a:p>
          <a:p>
            <a:r>
              <a:rPr lang="en-US" dirty="0"/>
              <a:t>And I looked at both numerical and categorical variables. For numerical variables, I examined distributions and relationships with churn. For categorical variables, I compared churn across groups.</a:t>
            </a:r>
          </a:p>
          <a:p>
            <a:r>
              <a:rPr lang="en-US" dirty="0"/>
              <a:t>I also used correlation analysis and statistical tests to determine whether some of the relationships I observed were statistically significant.</a:t>
            </a:r>
          </a:p>
        </p:txBody>
      </p:sp>
    </p:spTree>
    <p:extLst>
      <p:ext uri="{BB962C8B-B14F-4D97-AF65-F5344CB8AC3E}">
        <p14:creationId xmlns:p14="http://schemas.microsoft.com/office/powerpoint/2010/main" val="141408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7903D-D999-AC93-6EE4-445DA4A6FD61}"/>
              </a:ext>
            </a:extLst>
          </p:cNvPr>
          <p:cNvSpPr>
            <a:spLocks noGrp="1"/>
          </p:cNvSpPr>
          <p:nvPr>
            <p:ph type="title"/>
          </p:nvPr>
        </p:nvSpPr>
        <p:spPr/>
        <p:txBody>
          <a:bodyPr/>
          <a:lstStyle/>
          <a:p>
            <a:r>
              <a:rPr lang="en-US" dirty="0"/>
              <a:t>Customer Churn Distribution</a:t>
            </a:r>
          </a:p>
        </p:txBody>
      </p:sp>
      <p:pic>
        <p:nvPicPr>
          <p:cNvPr id="4" name="Content Placeholder 3">
            <a:extLst>
              <a:ext uri="{FF2B5EF4-FFF2-40B4-BE49-F238E27FC236}">
                <a16:creationId xmlns:a16="http://schemas.microsoft.com/office/drawing/2014/main" id="{5B87F309-419A-47C0-BEC0-1F7FF5918753}"/>
              </a:ext>
            </a:extLst>
          </p:cNvPr>
          <p:cNvPicPr>
            <a:picLocks noGrp="1" noChangeAspect="1"/>
          </p:cNvPicPr>
          <p:nvPr>
            <p:ph idx="1"/>
          </p:nvPr>
        </p:nvPicPr>
        <p:blipFill>
          <a:blip r:embed="rId2"/>
          <a:stretch>
            <a:fillRect/>
          </a:stretch>
        </p:blipFill>
        <p:spPr>
          <a:xfrm>
            <a:off x="1861414" y="1983886"/>
            <a:ext cx="5588396" cy="3970026"/>
          </a:xfrm>
          <a:prstGeom prst="rect">
            <a:avLst/>
          </a:prstGeom>
        </p:spPr>
      </p:pic>
      <p:sp>
        <p:nvSpPr>
          <p:cNvPr id="5" name="TextBox 4">
            <a:extLst>
              <a:ext uri="{FF2B5EF4-FFF2-40B4-BE49-F238E27FC236}">
                <a16:creationId xmlns:a16="http://schemas.microsoft.com/office/drawing/2014/main" id="{E383472A-8941-2861-408B-AF0991F61B87}"/>
              </a:ext>
            </a:extLst>
          </p:cNvPr>
          <p:cNvSpPr txBox="1"/>
          <p:nvPr/>
        </p:nvSpPr>
        <p:spPr>
          <a:xfrm>
            <a:off x="8016469" y="2038888"/>
            <a:ext cx="3843230" cy="3693319"/>
          </a:xfrm>
          <a:prstGeom prst="rect">
            <a:avLst/>
          </a:prstGeom>
          <a:noFill/>
        </p:spPr>
        <p:txBody>
          <a:bodyPr wrap="square" rtlCol="0">
            <a:spAutoFit/>
          </a:bodyPr>
          <a:lstStyle/>
          <a:p>
            <a:r>
              <a:rPr lang="en-US" dirty="0"/>
              <a:t>The notebook reports 5,174 customers who did not churn and 1,869 who did</a:t>
            </a:r>
          </a:p>
          <a:p>
            <a:endParaRPr lang="en-US" dirty="0"/>
          </a:p>
          <a:p>
            <a:r>
              <a:rPr lang="en-US" dirty="0"/>
              <a:t>In other words, roughly one out of every four customers left</a:t>
            </a:r>
          </a:p>
          <a:p>
            <a:endParaRPr lang="en-US" dirty="0"/>
          </a:p>
          <a:p>
            <a:r>
              <a:rPr lang="en-US" dirty="0"/>
              <a:t>This also creates an important modeling consideration: the target is imbalanced. There are substantially more customers who remain than customers who churn</a:t>
            </a:r>
          </a:p>
        </p:txBody>
      </p:sp>
    </p:spTree>
    <p:extLst>
      <p:ext uri="{BB962C8B-B14F-4D97-AF65-F5344CB8AC3E}">
        <p14:creationId xmlns:p14="http://schemas.microsoft.com/office/powerpoint/2010/main" val="2641767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53104-CB28-5B0D-8F7D-4D799C2FAD02}"/>
              </a:ext>
            </a:extLst>
          </p:cNvPr>
          <p:cNvSpPr>
            <a:spLocks noGrp="1"/>
          </p:cNvSpPr>
          <p:nvPr>
            <p:ph type="title"/>
          </p:nvPr>
        </p:nvSpPr>
        <p:spPr/>
        <p:txBody>
          <a:bodyPr/>
          <a:lstStyle/>
          <a:p>
            <a:r>
              <a:rPr lang="en-US" dirty="0"/>
              <a:t>Customer Tenure Is Associated With Churn</a:t>
            </a:r>
          </a:p>
        </p:txBody>
      </p:sp>
      <p:pic>
        <p:nvPicPr>
          <p:cNvPr id="4" name="Content Placeholder 3">
            <a:extLst>
              <a:ext uri="{FF2B5EF4-FFF2-40B4-BE49-F238E27FC236}">
                <a16:creationId xmlns:a16="http://schemas.microsoft.com/office/drawing/2014/main" id="{654B9041-3125-03D5-969A-F9B48D667615}"/>
              </a:ext>
            </a:extLst>
          </p:cNvPr>
          <p:cNvPicPr>
            <a:picLocks noGrp="1" noChangeAspect="1"/>
          </p:cNvPicPr>
          <p:nvPr>
            <p:ph idx="1"/>
          </p:nvPr>
        </p:nvPicPr>
        <p:blipFill>
          <a:blip r:embed="rId2"/>
          <a:stretch>
            <a:fillRect/>
          </a:stretch>
        </p:blipFill>
        <p:spPr>
          <a:xfrm>
            <a:off x="2122989" y="2032012"/>
            <a:ext cx="6124025" cy="4195762"/>
          </a:xfrm>
          <a:prstGeom prst="rect">
            <a:avLst/>
          </a:prstGeom>
        </p:spPr>
      </p:pic>
      <p:sp>
        <p:nvSpPr>
          <p:cNvPr id="5" name="TextBox 4">
            <a:extLst>
              <a:ext uri="{FF2B5EF4-FFF2-40B4-BE49-F238E27FC236}">
                <a16:creationId xmlns:a16="http://schemas.microsoft.com/office/drawing/2014/main" id="{20ED8437-7F69-BCDF-69D3-99385B1EA989}"/>
              </a:ext>
            </a:extLst>
          </p:cNvPr>
          <p:cNvSpPr txBox="1"/>
          <p:nvPr/>
        </p:nvSpPr>
        <p:spPr>
          <a:xfrm>
            <a:off x="8724614" y="2172558"/>
            <a:ext cx="3093834" cy="3416320"/>
          </a:xfrm>
          <a:prstGeom prst="rect">
            <a:avLst/>
          </a:prstGeom>
          <a:noFill/>
        </p:spPr>
        <p:txBody>
          <a:bodyPr wrap="square" rtlCol="0">
            <a:spAutoFit/>
          </a:bodyPr>
          <a:lstStyle/>
          <a:p>
            <a:r>
              <a:rPr lang="en-US" dirty="0"/>
              <a:t>Customers who churn generally have shorter tenures</a:t>
            </a:r>
          </a:p>
          <a:p>
            <a:endParaRPr lang="en-US" dirty="0"/>
          </a:p>
          <a:p>
            <a:r>
              <a:rPr lang="en-US" dirty="0"/>
              <a:t>This was particularly interesting from a business perspective because it suggests that the early portion of the customer lifecycle may represent an important retention opportunity</a:t>
            </a:r>
          </a:p>
        </p:txBody>
      </p:sp>
    </p:spTree>
    <p:extLst>
      <p:ext uri="{BB962C8B-B14F-4D97-AF65-F5344CB8AC3E}">
        <p14:creationId xmlns:p14="http://schemas.microsoft.com/office/powerpoint/2010/main" val="3358499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848FA-EE84-8EAE-DF4B-665D9FCEE1D2}"/>
              </a:ext>
            </a:extLst>
          </p:cNvPr>
          <p:cNvSpPr>
            <a:spLocks noGrp="1"/>
          </p:cNvSpPr>
          <p:nvPr>
            <p:ph type="title"/>
          </p:nvPr>
        </p:nvSpPr>
        <p:spPr/>
        <p:txBody>
          <a:bodyPr/>
          <a:lstStyle/>
          <a:p>
            <a:r>
              <a:rPr lang="en-US" dirty="0"/>
              <a:t>Turning Customer Data Into Model Inputs</a:t>
            </a:r>
          </a:p>
        </p:txBody>
      </p:sp>
      <p:sp>
        <p:nvSpPr>
          <p:cNvPr id="3" name="Content Placeholder 2">
            <a:extLst>
              <a:ext uri="{FF2B5EF4-FFF2-40B4-BE49-F238E27FC236}">
                <a16:creationId xmlns:a16="http://schemas.microsoft.com/office/drawing/2014/main" id="{96738EF4-C2A1-2756-EF67-1FA1F4DB9FC1}"/>
              </a:ext>
            </a:extLst>
          </p:cNvPr>
          <p:cNvSpPr>
            <a:spLocks noGrp="1"/>
          </p:cNvSpPr>
          <p:nvPr>
            <p:ph idx="1"/>
          </p:nvPr>
        </p:nvSpPr>
        <p:spPr>
          <a:xfrm>
            <a:off x="1103312" y="2052918"/>
            <a:ext cx="8946541" cy="4195481"/>
          </a:xfrm>
        </p:spPr>
        <p:txBody>
          <a:bodyPr/>
          <a:lstStyle/>
          <a:p>
            <a:r>
              <a:rPr lang="en-US" dirty="0"/>
              <a:t>Our graphic pipeline went from raw customer data to clean data to removing identifiers to converting variables to encoding categorical features to standardizing numerical and finally to splitting the dataset into train and test sets</a:t>
            </a:r>
          </a:p>
          <a:p>
            <a:r>
              <a:rPr lang="en-US" dirty="0"/>
              <a:t>Feature engineering is the process of transforming raw data into variables that are suitable and useful for machine learning</a:t>
            </a:r>
          </a:p>
          <a:p>
            <a:r>
              <a:rPr lang="en-US" dirty="0"/>
              <a:t>Standardization puts numerical features on a comparable scale. This is particularly relevant for models such as Logistic Regression where feature scale can influence the optimization process</a:t>
            </a:r>
          </a:p>
        </p:txBody>
      </p:sp>
    </p:spTree>
    <p:extLst>
      <p:ext uri="{BB962C8B-B14F-4D97-AF65-F5344CB8AC3E}">
        <p14:creationId xmlns:p14="http://schemas.microsoft.com/office/powerpoint/2010/main" val="2009995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5A6CE-4DE2-C78F-47F2-2582C3A26E7D}"/>
              </a:ext>
            </a:extLst>
          </p:cNvPr>
          <p:cNvSpPr>
            <a:spLocks noGrp="1"/>
          </p:cNvSpPr>
          <p:nvPr>
            <p:ph type="title"/>
          </p:nvPr>
        </p:nvSpPr>
        <p:spPr/>
        <p:txBody>
          <a:bodyPr/>
          <a:lstStyle/>
          <a:p>
            <a:r>
              <a:rPr lang="en-US" dirty="0"/>
              <a:t>Which Features Deserve Attention?</a:t>
            </a:r>
          </a:p>
        </p:txBody>
      </p:sp>
      <p:sp>
        <p:nvSpPr>
          <p:cNvPr id="3" name="Content Placeholder 2">
            <a:extLst>
              <a:ext uri="{FF2B5EF4-FFF2-40B4-BE49-F238E27FC236}">
                <a16:creationId xmlns:a16="http://schemas.microsoft.com/office/drawing/2014/main" id="{D94C75C1-FBAD-1609-C59D-59A82D118A8E}"/>
              </a:ext>
            </a:extLst>
          </p:cNvPr>
          <p:cNvSpPr>
            <a:spLocks noGrp="1"/>
          </p:cNvSpPr>
          <p:nvPr>
            <p:ph idx="1"/>
          </p:nvPr>
        </p:nvSpPr>
        <p:spPr/>
        <p:txBody>
          <a:bodyPr>
            <a:normAutofit fontScale="85000" lnSpcReduction="20000"/>
          </a:bodyPr>
          <a:lstStyle/>
          <a:p>
            <a:r>
              <a:rPr lang="en-US" dirty="0"/>
              <a:t>Numerical analysis</a:t>
            </a:r>
          </a:p>
          <a:p>
            <a:pPr lvl="1"/>
            <a:r>
              <a:rPr lang="en-US" dirty="0"/>
              <a:t>Tenure </a:t>
            </a:r>
          </a:p>
          <a:p>
            <a:pPr lvl="1"/>
            <a:r>
              <a:rPr lang="en-US" dirty="0"/>
              <a:t>Monthly Charges </a:t>
            </a:r>
          </a:p>
          <a:p>
            <a:pPr lvl="1"/>
            <a:r>
              <a:rPr lang="en-US" dirty="0"/>
              <a:t>Total Charges </a:t>
            </a:r>
          </a:p>
          <a:p>
            <a:pPr lvl="1"/>
            <a:r>
              <a:rPr lang="en-US" dirty="0"/>
              <a:t>Average Monthly Spend</a:t>
            </a:r>
          </a:p>
          <a:p>
            <a:r>
              <a:rPr lang="en-US" dirty="0"/>
              <a:t>Categorical analysis</a:t>
            </a:r>
          </a:p>
          <a:p>
            <a:pPr lvl="1"/>
            <a:r>
              <a:rPr lang="en-US" dirty="0"/>
              <a:t>Contract </a:t>
            </a:r>
          </a:p>
          <a:p>
            <a:pPr lvl="1"/>
            <a:r>
              <a:rPr lang="en-US" dirty="0"/>
              <a:t>Internet Service </a:t>
            </a:r>
          </a:p>
          <a:p>
            <a:pPr lvl="1"/>
            <a:r>
              <a:rPr lang="en-US" dirty="0"/>
              <a:t>Payment Method </a:t>
            </a:r>
          </a:p>
          <a:p>
            <a:pPr lvl="1"/>
            <a:r>
              <a:rPr lang="en-US" dirty="0"/>
              <a:t>Tech Support </a:t>
            </a:r>
          </a:p>
          <a:p>
            <a:pPr lvl="1"/>
            <a:r>
              <a:rPr lang="en-US" dirty="0"/>
              <a:t>Online Security</a:t>
            </a:r>
          </a:p>
          <a:p>
            <a:r>
              <a:rPr lang="en-US" dirty="0"/>
              <a:t>Statistical significance helped me understand relationships; it was not the only criterion for determining predictive usefulness</a:t>
            </a:r>
          </a:p>
        </p:txBody>
      </p:sp>
    </p:spTree>
    <p:extLst>
      <p:ext uri="{BB962C8B-B14F-4D97-AF65-F5344CB8AC3E}">
        <p14:creationId xmlns:p14="http://schemas.microsoft.com/office/powerpoint/2010/main" val="3757204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9861C-960B-6646-ECFD-472CCB9E5AF0}"/>
              </a:ext>
            </a:extLst>
          </p:cNvPr>
          <p:cNvSpPr>
            <a:spLocks noGrp="1"/>
          </p:cNvSpPr>
          <p:nvPr>
            <p:ph type="title"/>
          </p:nvPr>
        </p:nvSpPr>
        <p:spPr/>
        <p:txBody>
          <a:bodyPr/>
          <a:lstStyle/>
          <a:p>
            <a:r>
              <a:rPr lang="en-US" dirty="0"/>
              <a:t>How Did I Make Sure the Model Was Actually Being Tested?</a:t>
            </a:r>
          </a:p>
        </p:txBody>
      </p:sp>
      <p:sp>
        <p:nvSpPr>
          <p:cNvPr id="3" name="Content Placeholder 2">
            <a:extLst>
              <a:ext uri="{FF2B5EF4-FFF2-40B4-BE49-F238E27FC236}">
                <a16:creationId xmlns:a16="http://schemas.microsoft.com/office/drawing/2014/main" id="{F02E9ED0-BCAE-7B46-741B-61BAFA2C4FC3}"/>
              </a:ext>
            </a:extLst>
          </p:cNvPr>
          <p:cNvSpPr>
            <a:spLocks noGrp="1"/>
          </p:cNvSpPr>
          <p:nvPr>
            <p:ph idx="1"/>
          </p:nvPr>
        </p:nvSpPr>
        <p:spPr/>
        <p:txBody>
          <a:bodyPr/>
          <a:lstStyle/>
          <a:p>
            <a:r>
              <a:rPr lang="en-US" dirty="0"/>
              <a:t>One of the most important steps in predictive modeling is making sure the model is evaluated on data it did not use during training</a:t>
            </a:r>
          </a:p>
          <a:p>
            <a:r>
              <a:rPr lang="en-US" dirty="0"/>
              <a:t>The training set is where the algorithm learns relationships between the features and churn</a:t>
            </a:r>
          </a:p>
          <a:p>
            <a:r>
              <a:rPr lang="en-US" dirty="0"/>
              <a:t>The test set is held out until evaluation so that I can estimate how well the model generalizes to customers it hasn't previously seen</a:t>
            </a:r>
          </a:p>
          <a:p>
            <a:r>
              <a:rPr lang="en-US" dirty="0"/>
              <a:t>This helps reduce the risk of reporting a model that performs well simply because it memorized the training data</a:t>
            </a:r>
          </a:p>
        </p:txBody>
      </p:sp>
    </p:spTree>
    <p:extLst>
      <p:ext uri="{BB962C8B-B14F-4D97-AF65-F5344CB8AC3E}">
        <p14:creationId xmlns:p14="http://schemas.microsoft.com/office/powerpoint/2010/main" val="3809857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B29FD-ED52-7F4F-FA92-FAAC9359D6EF}"/>
              </a:ext>
            </a:extLst>
          </p:cNvPr>
          <p:cNvSpPr>
            <a:spLocks noGrp="1"/>
          </p:cNvSpPr>
          <p:nvPr>
            <p:ph type="title"/>
          </p:nvPr>
        </p:nvSpPr>
        <p:spPr/>
        <p:txBody>
          <a:bodyPr/>
          <a:lstStyle/>
          <a:p>
            <a:r>
              <a:rPr lang="en-US" dirty="0"/>
              <a:t>Why Test Multiple Algorithms?</a:t>
            </a:r>
          </a:p>
        </p:txBody>
      </p:sp>
      <p:sp>
        <p:nvSpPr>
          <p:cNvPr id="3" name="Content Placeholder 2">
            <a:extLst>
              <a:ext uri="{FF2B5EF4-FFF2-40B4-BE49-F238E27FC236}">
                <a16:creationId xmlns:a16="http://schemas.microsoft.com/office/drawing/2014/main" id="{D82E861A-0955-08A2-5023-F2B224028CC2}"/>
              </a:ext>
            </a:extLst>
          </p:cNvPr>
          <p:cNvSpPr>
            <a:spLocks noGrp="1"/>
          </p:cNvSpPr>
          <p:nvPr>
            <p:ph idx="1"/>
          </p:nvPr>
        </p:nvSpPr>
        <p:spPr/>
        <p:txBody>
          <a:bodyPr/>
          <a:lstStyle/>
          <a:p>
            <a:r>
              <a:rPr lang="en-US" dirty="0"/>
              <a:t>Rather than if one algorithm would work best, I evaluated three different approaches:</a:t>
            </a:r>
          </a:p>
          <a:p>
            <a:pPr lvl="1"/>
            <a:r>
              <a:rPr lang="en-US" dirty="0"/>
              <a:t>Logistic Regression provided an interpretable baseline</a:t>
            </a:r>
          </a:p>
          <a:p>
            <a:pPr lvl="1"/>
            <a:r>
              <a:rPr lang="en-US" dirty="0"/>
              <a:t>Random Forest allowed me to model nonlinear relationships using an ensemble of decision trees</a:t>
            </a:r>
          </a:p>
          <a:p>
            <a:pPr lvl="1"/>
            <a:r>
              <a:rPr lang="en-US" dirty="0"/>
              <a:t>Gradient Boosting provided another tree-based approach that builds models sequentially, with each new model attempting to improve on previous errors</a:t>
            </a:r>
          </a:p>
          <a:p>
            <a:pPr marL="457200" lvl="1" indent="0">
              <a:buNone/>
            </a:pPr>
            <a:endParaRPr lang="en-US" dirty="0"/>
          </a:p>
        </p:txBody>
      </p:sp>
    </p:spTree>
    <p:extLst>
      <p:ext uri="{BB962C8B-B14F-4D97-AF65-F5344CB8AC3E}">
        <p14:creationId xmlns:p14="http://schemas.microsoft.com/office/powerpoint/2010/main" val="3072111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F217D-63FB-EDA4-C124-4505226F842F}"/>
              </a:ext>
            </a:extLst>
          </p:cNvPr>
          <p:cNvSpPr>
            <a:spLocks noGrp="1"/>
          </p:cNvSpPr>
          <p:nvPr>
            <p:ph type="title"/>
          </p:nvPr>
        </p:nvSpPr>
        <p:spPr/>
        <p:txBody>
          <a:bodyPr/>
          <a:lstStyle/>
          <a:p>
            <a:r>
              <a:rPr lang="en-US" dirty="0"/>
              <a:t>Building the Models</a:t>
            </a:r>
          </a:p>
        </p:txBody>
      </p:sp>
      <p:sp>
        <p:nvSpPr>
          <p:cNvPr id="3" name="Content Placeholder 2">
            <a:extLst>
              <a:ext uri="{FF2B5EF4-FFF2-40B4-BE49-F238E27FC236}">
                <a16:creationId xmlns:a16="http://schemas.microsoft.com/office/drawing/2014/main" id="{E59438B2-0813-1F93-02B5-31ED36DDBA73}"/>
              </a:ext>
            </a:extLst>
          </p:cNvPr>
          <p:cNvSpPr>
            <a:spLocks noGrp="1"/>
          </p:cNvSpPr>
          <p:nvPr>
            <p:ph idx="1"/>
          </p:nvPr>
        </p:nvSpPr>
        <p:spPr/>
        <p:txBody>
          <a:bodyPr>
            <a:normAutofit/>
          </a:bodyPr>
          <a:lstStyle/>
          <a:p>
            <a:r>
              <a:rPr lang="en-US" dirty="0"/>
              <a:t>I also had to specify model parameters before training. For example, Logistic Regression used a maximum iteration setting of 1,000, while the Random Forest used 200 trees.</a:t>
            </a:r>
          </a:p>
          <a:p>
            <a:r>
              <a:rPr lang="en-US" dirty="0"/>
              <a:t>Our current modeling code includes parameters such as:</a:t>
            </a:r>
          </a:p>
          <a:p>
            <a:pPr lvl="1"/>
            <a:r>
              <a:rPr lang="en-US" dirty="0"/>
              <a:t>Logistic Regression</a:t>
            </a:r>
          </a:p>
          <a:p>
            <a:pPr lvl="2"/>
            <a:r>
              <a:rPr lang="en-US" dirty="0" err="1"/>
              <a:t>max_iter</a:t>
            </a:r>
            <a:r>
              <a:rPr lang="en-US" dirty="0"/>
              <a:t> = 1000 </a:t>
            </a:r>
          </a:p>
          <a:p>
            <a:pPr lvl="1"/>
            <a:r>
              <a:rPr lang="en-US" dirty="0"/>
              <a:t>Random Forest</a:t>
            </a:r>
          </a:p>
          <a:p>
            <a:pPr lvl="2"/>
            <a:r>
              <a:rPr lang="en-US" dirty="0" err="1"/>
              <a:t>n_estimators</a:t>
            </a:r>
            <a:r>
              <a:rPr lang="en-US" dirty="0"/>
              <a:t> = 200</a:t>
            </a:r>
          </a:p>
          <a:p>
            <a:pPr lvl="2"/>
            <a:r>
              <a:rPr lang="en-US" dirty="0" err="1"/>
              <a:t>random_state</a:t>
            </a:r>
            <a:r>
              <a:rPr lang="en-US" dirty="0"/>
              <a:t> = 42</a:t>
            </a:r>
          </a:p>
          <a:p>
            <a:pPr lvl="1"/>
            <a:r>
              <a:rPr lang="en-US" dirty="0"/>
              <a:t>Gradient Boosting</a:t>
            </a:r>
          </a:p>
          <a:p>
            <a:pPr lvl="2"/>
            <a:r>
              <a:rPr lang="en-US" dirty="0" err="1"/>
              <a:t>random_state</a:t>
            </a:r>
            <a:r>
              <a:rPr lang="en-US" dirty="0"/>
              <a:t> = 42</a:t>
            </a:r>
          </a:p>
        </p:txBody>
      </p:sp>
    </p:spTree>
    <p:extLst>
      <p:ext uri="{BB962C8B-B14F-4D97-AF65-F5344CB8AC3E}">
        <p14:creationId xmlns:p14="http://schemas.microsoft.com/office/powerpoint/2010/main" val="164281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65B26-E2CD-CD73-9121-9516DC3C4847}"/>
              </a:ext>
            </a:extLst>
          </p:cNvPr>
          <p:cNvSpPr>
            <a:spLocks noGrp="1"/>
          </p:cNvSpPr>
          <p:nvPr>
            <p:ph type="title"/>
          </p:nvPr>
        </p:nvSpPr>
        <p:spPr/>
        <p:txBody>
          <a:bodyPr/>
          <a:lstStyle/>
          <a:p>
            <a:r>
              <a:rPr lang="en-US" dirty="0"/>
              <a:t>Which Model Performed Best?</a:t>
            </a:r>
          </a:p>
        </p:txBody>
      </p:sp>
      <p:pic>
        <p:nvPicPr>
          <p:cNvPr id="4" name="Content Placeholder 3">
            <a:extLst>
              <a:ext uri="{FF2B5EF4-FFF2-40B4-BE49-F238E27FC236}">
                <a16:creationId xmlns:a16="http://schemas.microsoft.com/office/drawing/2014/main" id="{02602713-6469-A317-663B-FB9C58B4000A}"/>
              </a:ext>
            </a:extLst>
          </p:cNvPr>
          <p:cNvPicPr>
            <a:picLocks noGrp="1" noChangeAspect="1"/>
          </p:cNvPicPr>
          <p:nvPr>
            <p:ph idx="1"/>
          </p:nvPr>
        </p:nvPicPr>
        <p:blipFill>
          <a:blip r:embed="rId2"/>
          <a:stretch>
            <a:fillRect/>
          </a:stretch>
        </p:blipFill>
        <p:spPr>
          <a:xfrm>
            <a:off x="1349125" y="2052638"/>
            <a:ext cx="7471742" cy="4195762"/>
          </a:xfrm>
          <a:prstGeom prst="rect">
            <a:avLst/>
          </a:prstGeom>
        </p:spPr>
      </p:pic>
      <p:sp>
        <p:nvSpPr>
          <p:cNvPr id="5" name="TextBox 4">
            <a:extLst>
              <a:ext uri="{FF2B5EF4-FFF2-40B4-BE49-F238E27FC236}">
                <a16:creationId xmlns:a16="http://schemas.microsoft.com/office/drawing/2014/main" id="{4921D932-47E6-D897-3349-03606B72B53F}"/>
              </a:ext>
            </a:extLst>
          </p:cNvPr>
          <p:cNvSpPr txBox="1"/>
          <p:nvPr/>
        </p:nvSpPr>
        <p:spPr>
          <a:xfrm>
            <a:off x="9033997" y="2052638"/>
            <a:ext cx="2770701" cy="4524315"/>
          </a:xfrm>
          <a:prstGeom prst="rect">
            <a:avLst/>
          </a:prstGeom>
          <a:noFill/>
        </p:spPr>
        <p:txBody>
          <a:bodyPr wrap="square" rtlCol="0">
            <a:spAutoFit/>
          </a:bodyPr>
          <a:lstStyle/>
          <a:p>
            <a:r>
              <a:rPr lang="en-US" dirty="0"/>
              <a:t>This is an important result because it demonstrates that the most complex model isn't necessarily the best model for every dataset</a:t>
            </a:r>
          </a:p>
          <a:p>
            <a:endParaRPr lang="en-US" dirty="0"/>
          </a:p>
          <a:p>
            <a:r>
              <a:rPr lang="en-US" dirty="0"/>
              <a:t>In this case, the simpler and more interpretable Logistic Regression model produced the strongest overall performance</a:t>
            </a:r>
          </a:p>
          <a:p>
            <a:endParaRPr lang="en-US" dirty="0"/>
          </a:p>
        </p:txBody>
      </p:sp>
    </p:spTree>
    <p:extLst>
      <p:ext uri="{BB962C8B-B14F-4D97-AF65-F5344CB8AC3E}">
        <p14:creationId xmlns:p14="http://schemas.microsoft.com/office/powerpoint/2010/main" val="2110661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7A23F-47B3-4148-445E-01CE5FB82D53}"/>
              </a:ext>
            </a:extLst>
          </p:cNvPr>
          <p:cNvSpPr>
            <a:spLocks noGrp="1"/>
          </p:cNvSpPr>
          <p:nvPr>
            <p:ph type="title"/>
          </p:nvPr>
        </p:nvSpPr>
        <p:spPr/>
        <p:txBody>
          <a:bodyPr/>
          <a:lstStyle/>
          <a:p>
            <a:r>
              <a:rPr lang="en-US" dirty="0"/>
              <a:t>What Do Those Numbers Actually Mean?</a:t>
            </a:r>
          </a:p>
        </p:txBody>
      </p:sp>
      <p:sp>
        <p:nvSpPr>
          <p:cNvPr id="3" name="Content Placeholder 2">
            <a:extLst>
              <a:ext uri="{FF2B5EF4-FFF2-40B4-BE49-F238E27FC236}">
                <a16:creationId xmlns:a16="http://schemas.microsoft.com/office/drawing/2014/main" id="{C657102F-420E-CDDD-EF59-80C97FC27A96}"/>
              </a:ext>
            </a:extLst>
          </p:cNvPr>
          <p:cNvSpPr>
            <a:spLocks noGrp="1"/>
          </p:cNvSpPr>
          <p:nvPr>
            <p:ph idx="1"/>
          </p:nvPr>
        </p:nvSpPr>
        <p:spPr/>
        <p:txBody>
          <a:bodyPr>
            <a:normAutofit fontScale="92500" lnSpcReduction="20000"/>
          </a:bodyPr>
          <a:lstStyle/>
          <a:p>
            <a:r>
              <a:rPr lang="en-US" dirty="0"/>
              <a:t>Accuracy: 80.4%</a:t>
            </a:r>
          </a:p>
          <a:p>
            <a:pPr lvl="1"/>
            <a:r>
              <a:rPr lang="en-US" dirty="0"/>
              <a:t>Approximately 80% of test customers were classified correctly</a:t>
            </a:r>
          </a:p>
          <a:p>
            <a:r>
              <a:rPr lang="en-US" dirty="0"/>
              <a:t>Precision: 64.9%</a:t>
            </a:r>
          </a:p>
          <a:p>
            <a:pPr lvl="1"/>
            <a:r>
              <a:rPr lang="en-US" dirty="0"/>
              <a:t>When the model predicted churn, about 65% actually churned</a:t>
            </a:r>
          </a:p>
          <a:p>
            <a:r>
              <a:rPr lang="en-US" dirty="0"/>
              <a:t>Recall: 57.0%</a:t>
            </a:r>
          </a:p>
          <a:p>
            <a:pPr lvl="1"/>
            <a:r>
              <a:rPr lang="en-US" dirty="0"/>
              <a:t>The model identified about 57% of customers who actually churned</a:t>
            </a:r>
          </a:p>
          <a:p>
            <a:r>
              <a:rPr lang="en-US" dirty="0"/>
              <a:t> F1: 60.7%</a:t>
            </a:r>
          </a:p>
          <a:p>
            <a:pPr lvl="1"/>
            <a:r>
              <a:rPr lang="en-US" dirty="0"/>
              <a:t>Balances precision and recall</a:t>
            </a:r>
          </a:p>
          <a:p>
            <a:r>
              <a:rPr lang="en-US" dirty="0"/>
              <a:t>ROC-AUC: 0. 836</a:t>
            </a:r>
          </a:p>
          <a:p>
            <a:pPr lvl="1"/>
            <a:r>
              <a:rPr lang="en-US" dirty="0"/>
              <a:t>Measures the model's ability to distinguish churners from non-churners across classification thresholds 		</a:t>
            </a:r>
            <a:br>
              <a:rPr lang="en-US" dirty="0"/>
            </a:br>
            <a:r>
              <a:rPr lang="en-US" dirty="0"/>
              <a:t>	</a:t>
            </a:r>
            <a:br>
              <a:rPr lang="en-US" dirty="0"/>
            </a:br>
            <a:endParaRPr lang="en-US" dirty="0"/>
          </a:p>
        </p:txBody>
      </p:sp>
    </p:spTree>
    <p:extLst>
      <p:ext uri="{BB962C8B-B14F-4D97-AF65-F5344CB8AC3E}">
        <p14:creationId xmlns:p14="http://schemas.microsoft.com/office/powerpoint/2010/main" val="2513166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557F7-9526-55DC-D04E-2BA5C8AA6F1A}"/>
              </a:ext>
            </a:extLst>
          </p:cNvPr>
          <p:cNvSpPr>
            <a:spLocks noGrp="1"/>
          </p:cNvSpPr>
          <p:nvPr>
            <p:ph type="title"/>
          </p:nvPr>
        </p:nvSpPr>
        <p:spPr/>
        <p:txBody>
          <a:bodyPr/>
          <a:lstStyle/>
          <a:p>
            <a:r>
              <a:rPr lang="en-US" dirty="0"/>
              <a:t>What Is Driving the Predictions?</a:t>
            </a:r>
          </a:p>
        </p:txBody>
      </p:sp>
      <p:pic>
        <p:nvPicPr>
          <p:cNvPr id="4" name="Content Placeholder 3">
            <a:extLst>
              <a:ext uri="{FF2B5EF4-FFF2-40B4-BE49-F238E27FC236}">
                <a16:creationId xmlns:a16="http://schemas.microsoft.com/office/drawing/2014/main" id="{8AF3FCA0-085D-5DCA-F0B4-C56AD78B95A2}"/>
              </a:ext>
            </a:extLst>
          </p:cNvPr>
          <p:cNvPicPr>
            <a:picLocks noGrp="1" noChangeAspect="1"/>
          </p:cNvPicPr>
          <p:nvPr>
            <p:ph idx="1"/>
          </p:nvPr>
        </p:nvPicPr>
        <p:blipFill>
          <a:blip r:embed="rId2"/>
          <a:stretch>
            <a:fillRect/>
          </a:stretch>
        </p:blipFill>
        <p:spPr>
          <a:xfrm>
            <a:off x="923236" y="2100764"/>
            <a:ext cx="7107244" cy="4195762"/>
          </a:xfrm>
          <a:prstGeom prst="rect">
            <a:avLst/>
          </a:prstGeom>
        </p:spPr>
      </p:pic>
      <p:sp>
        <p:nvSpPr>
          <p:cNvPr id="5" name="TextBox 4">
            <a:extLst>
              <a:ext uri="{FF2B5EF4-FFF2-40B4-BE49-F238E27FC236}">
                <a16:creationId xmlns:a16="http://schemas.microsoft.com/office/drawing/2014/main" id="{E282A3A2-3B53-A8BC-AF65-7A6B970A762B}"/>
              </a:ext>
            </a:extLst>
          </p:cNvPr>
          <p:cNvSpPr txBox="1"/>
          <p:nvPr/>
        </p:nvSpPr>
        <p:spPr>
          <a:xfrm>
            <a:off x="8298352" y="2200060"/>
            <a:ext cx="3595723" cy="2585323"/>
          </a:xfrm>
          <a:prstGeom prst="rect">
            <a:avLst/>
          </a:prstGeom>
          <a:noFill/>
        </p:spPr>
        <p:txBody>
          <a:bodyPr wrap="square" rtlCol="0">
            <a:spAutoFit/>
          </a:bodyPr>
          <a:lstStyle/>
          <a:p>
            <a:r>
              <a:rPr lang="en-US" dirty="0" err="1"/>
              <a:t>TotalCharges</a:t>
            </a:r>
            <a:r>
              <a:rPr lang="en-US" dirty="0"/>
              <a:t>, tenure, </a:t>
            </a:r>
            <a:r>
              <a:rPr lang="en-US" dirty="0" err="1"/>
              <a:t>AverageMonthlySpend</a:t>
            </a:r>
            <a:r>
              <a:rPr lang="en-US" dirty="0"/>
              <a:t>, and </a:t>
            </a:r>
            <a:r>
              <a:rPr lang="en-US" dirty="0" err="1"/>
              <a:t>MonthlyCharges</a:t>
            </a:r>
            <a:r>
              <a:rPr lang="en-US" dirty="0"/>
              <a:t> were among the strongest predictors, followed by variables such as payment method, internet service, contract type, online security, and technical support</a:t>
            </a:r>
          </a:p>
        </p:txBody>
      </p:sp>
    </p:spTree>
    <p:extLst>
      <p:ext uri="{BB962C8B-B14F-4D97-AF65-F5344CB8AC3E}">
        <p14:creationId xmlns:p14="http://schemas.microsoft.com/office/powerpoint/2010/main" val="1392077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DE956-EAE8-3EC2-6C67-5269A3737250}"/>
              </a:ext>
            </a:extLst>
          </p:cNvPr>
          <p:cNvSpPr>
            <a:spLocks noGrp="1"/>
          </p:cNvSpPr>
          <p:nvPr>
            <p:ph type="title"/>
          </p:nvPr>
        </p:nvSpPr>
        <p:spPr/>
        <p:txBody>
          <a:bodyPr/>
          <a:lstStyle/>
          <a:p>
            <a:r>
              <a:rPr lang="en-US" dirty="0"/>
              <a:t>How Would a Business Actually Use This?</a:t>
            </a:r>
          </a:p>
        </p:txBody>
      </p:sp>
      <p:sp>
        <p:nvSpPr>
          <p:cNvPr id="3" name="Content Placeholder 2">
            <a:extLst>
              <a:ext uri="{FF2B5EF4-FFF2-40B4-BE49-F238E27FC236}">
                <a16:creationId xmlns:a16="http://schemas.microsoft.com/office/drawing/2014/main" id="{CB821BF2-7CCF-441F-E2EC-9A825E7B5892}"/>
              </a:ext>
            </a:extLst>
          </p:cNvPr>
          <p:cNvSpPr>
            <a:spLocks noGrp="1"/>
          </p:cNvSpPr>
          <p:nvPr>
            <p:ph idx="1"/>
          </p:nvPr>
        </p:nvSpPr>
        <p:spPr/>
        <p:txBody>
          <a:bodyPr/>
          <a:lstStyle/>
          <a:p>
            <a:r>
              <a:rPr lang="en-US" dirty="0"/>
              <a:t>In a real business environment, the model could be integrated with the customer database to generate a churn-risk score for each customer.</a:t>
            </a:r>
          </a:p>
          <a:p>
            <a:r>
              <a:rPr lang="en-US" dirty="0"/>
              <a:t>Those scores could then be surfaced through a dashboard and used by a retention team to prioritize outreach.</a:t>
            </a:r>
          </a:p>
          <a:p>
            <a:r>
              <a:rPr lang="en-US" dirty="0"/>
              <a:t>Instead of contacting every customer with the same campaign, the business could focus resources on customers who have a higher predicted probability of leaving.</a:t>
            </a:r>
          </a:p>
          <a:p>
            <a:endParaRPr lang="en-US" dirty="0"/>
          </a:p>
        </p:txBody>
      </p:sp>
    </p:spTree>
    <p:extLst>
      <p:ext uri="{BB962C8B-B14F-4D97-AF65-F5344CB8AC3E}">
        <p14:creationId xmlns:p14="http://schemas.microsoft.com/office/powerpoint/2010/main" val="1657781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93C00-BDCF-6771-752E-ABD3165CFCC2}"/>
              </a:ext>
            </a:extLst>
          </p:cNvPr>
          <p:cNvSpPr>
            <a:spLocks noGrp="1"/>
          </p:cNvSpPr>
          <p:nvPr>
            <p:ph type="title"/>
          </p:nvPr>
        </p:nvSpPr>
        <p:spPr/>
        <p:txBody>
          <a:bodyPr/>
          <a:lstStyle/>
          <a:p>
            <a:r>
              <a:rPr lang="en-US" dirty="0"/>
              <a:t>Three Recommendations for the Business</a:t>
            </a:r>
          </a:p>
        </p:txBody>
      </p:sp>
      <p:sp>
        <p:nvSpPr>
          <p:cNvPr id="3" name="Content Placeholder 2">
            <a:extLst>
              <a:ext uri="{FF2B5EF4-FFF2-40B4-BE49-F238E27FC236}">
                <a16:creationId xmlns:a16="http://schemas.microsoft.com/office/drawing/2014/main" id="{EE00527E-385F-BA40-90B4-6558C18E5C71}"/>
              </a:ext>
            </a:extLst>
          </p:cNvPr>
          <p:cNvSpPr>
            <a:spLocks noGrp="1"/>
          </p:cNvSpPr>
          <p:nvPr>
            <p:ph idx="1"/>
          </p:nvPr>
        </p:nvSpPr>
        <p:spPr/>
        <p:txBody>
          <a:bodyPr/>
          <a:lstStyle/>
          <a:p>
            <a:r>
              <a:rPr lang="en-US" dirty="0"/>
              <a:t>Focus on Early-Customer Retention</a:t>
            </a:r>
          </a:p>
          <a:p>
            <a:pPr lvl="1"/>
            <a:r>
              <a:rPr lang="en-US" dirty="0"/>
              <a:t>Customers with shorter tenure showed stronger associations with churn. Create proactive onboarding and early-lifecycle engagement programs</a:t>
            </a:r>
          </a:p>
          <a:p>
            <a:r>
              <a:rPr lang="en-US" dirty="0"/>
              <a:t>Prioritize High-Risk Customers</a:t>
            </a:r>
          </a:p>
          <a:p>
            <a:pPr lvl="1"/>
            <a:r>
              <a:rPr lang="en-US" dirty="0"/>
              <a:t>Use model predictions to focus retention resources on customers with higher predicted churn risk</a:t>
            </a:r>
          </a:p>
          <a:p>
            <a:r>
              <a:rPr lang="en-US" dirty="0"/>
              <a:t>Investigate Pricing &amp; Service Value</a:t>
            </a:r>
          </a:p>
          <a:p>
            <a:pPr lvl="1"/>
            <a:r>
              <a:rPr lang="en-US" dirty="0"/>
              <a:t>Billing and service characteristics were important predictors. Investigate whether particular pricing/service combinations are associated with increased churn</a:t>
            </a:r>
          </a:p>
        </p:txBody>
      </p:sp>
    </p:spTree>
    <p:extLst>
      <p:ext uri="{BB962C8B-B14F-4D97-AF65-F5344CB8AC3E}">
        <p14:creationId xmlns:p14="http://schemas.microsoft.com/office/powerpoint/2010/main" val="1985868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20449-A340-E6DC-2843-584DF03E05AA}"/>
              </a:ext>
            </a:extLst>
          </p:cNvPr>
          <p:cNvSpPr>
            <a:spLocks noGrp="1"/>
          </p:cNvSpPr>
          <p:nvPr>
            <p:ph type="title"/>
          </p:nvPr>
        </p:nvSpPr>
        <p:spPr/>
        <p:txBody>
          <a:bodyPr/>
          <a:lstStyle/>
          <a:p>
            <a:r>
              <a:rPr lang="en-US" dirty="0"/>
              <a:t>What Did We Learn?</a:t>
            </a:r>
          </a:p>
        </p:txBody>
      </p:sp>
      <p:sp>
        <p:nvSpPr>
          <p:cNvPr id="3" name="Content Placeholder 2">
            <a:extLst>
              <a:ext uri="{FF2B5EF4-FFF2-40B4-BE49-F238E27FC236}">
                <a16:creationId xmlns:a16="http://schemas.microsoft.com/office/drawing/2014/main" id="{497C4091-589E-96B0-FE18-13338089FEE1}"/>
              </a:ext>
            </a:extLst>
          </p:cNvPr>
          <p:cNvSpPr>
            <a:spLocks noGrp="1"/>
          </p:cNvSpPr>
          <p:nvPr>
            <p:ph idx="1"/>
          </p:nvPr>
        </p:nvSpPr>
        <p:spPr/>
        <p:txBody>
          <a:bodyPr/>
          <a:lstStyle/>
          <a:p>
            <a:r>
              <a:rPr lang="en-US" dirty="0"/>
              <a:t>To summarize, this project showed that customer churn represents a meaningful problem in the dataset, with approximately 26.5% of customers leaving</a:t>
            </a:r>
          </a:p>
          <a:p>
            <a:r>
              <a:rPr lang="en-US" dirty="0"/>
              <a:t>Exploratory analysis showed that tenure and several account, service, and billing characteristics are associated with churn</a:t>
            </a:r>
          </a:p>
          <a:p>
            <a:r>
              <a:rPr lang="en-US" dirty="0"/>
              <a:t>Most importantly, the model provides a potential way for a business to move from reacting to churn after it happens toward proactively identifying customers who may be at risk</a:t>
            </a:r>
          </a:p>
        </p:txBody>
      </p:sp>
    </p:spTree>
    <p:extLst>
      <p:ext uri="{BB962C8B-B14F-4D97-AF65-F5344CB8AC3E}">
        <p14:creationId xmlns:p14="http://schemas.microsoft.com/office/powerpoint/2010/main" val="41820815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B8BEF-66E0-362F-09B6-EE7CA9EB16E3}"/>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412D49A1-72A0-988A-C24A-4C04C719765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246368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85</TotalTime>
  <Words>1145</Words>
  <Application>Microsoft Office PowerPoint</Application>
  <PresentationFormat>Widescreen</PresentationFormat>
  <Paragraphs>124</Paragraphs>
  <Slides>20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Century Gothic</vt:lpstr>
      <vt:lpstr>Wingdings 3</vt:lpstr>
      <vt:lpstr>Ion</vt:lpstr>
      <vt:lpstr>Customer Churn Prediction Using Machine Learning</vt:lpstr>
      <vt:lpstr>The Business Problem</vt:lpstr>
      <vt:lpstr>Can We Predict Customer Churn? </vt:lpstr>
      <vt:lpstr>Telco Customer Churn Dataset </vt:lpstr>
      <vt:lpstr>Before Modeling: Is the Data Trustworthy?</vt:lpstr>
      <vt:lpstr>Understanding Who Churns</vt:lpstr>
      <vt:lpstr>Customer Churn Distribution</vt:lpstr>
      <vt:lpstr>Customer Tenure Is Associated With Churn</vt:lpstr>
      <vt:lpstr>Turning Customer Data Into Model Inputs</vt:lpstr>
      <vt:lpstr>Which Features Deserve Attention?</vt:lpstr>
      <vt:lpstr>How Did I Make Sure the Model Was Actually Being Tested?</vt:lpstr>
      <vt:lpstr>Why Test Multiple Algorithms?</vt:lpstr>
      <vt:lpstr>Building the Models</vt:lpstr>
      <vt:lpstr>Which Model Performed Best?</vt:lpstr>
      <vt:lpstr>What Do Those Numbers Actually Mean?</vt:lpstr>
      <vt:lpstr>What Is Driving the Predictions?</vt:lpstr>
      <vt:lpstr>How Would a Business Actually Use This?</vt:lpstr>
      <vt:lpstr>Three Recommendations for the Business</vt:lpstr>
      <vt:lpstr>What Did We Learn?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Kedhar Swaminathan</dc:creator>
  <cp:lastModifiedBy>Kedhar Swaminathan</cp:lastModifiedBy>
  <cp:revision>1</cp:revision>
  <dcterms:created xsi:type="dcterms:W3CDTF">2026-08-19T16:20:25Z</dcterms:created>
  <dcterms:modified xsi:type="dcterms:W3CDTF">2026-08-20T16:21:46Z</dcterms:modified>
</cp:coreProperties>
</file>